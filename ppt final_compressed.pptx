
<file path=[Content_Types].xml><?xml version="1.0" encoding="utf-8"?>
<Types xmlns="http://schemas.openxmlformats.org/package/2006/content-types">
  <Default Extension="fntdata" ContentType="application/x-fontdata"/>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ink/ink3.xml" ContentType="application/inkml+xml"/>
  <Override PartName="/ppt/notesSlides/notesSlide4.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3" r:id="rId6"/>
    <p:sldId id="260" r:id="rId7"/>
    <p:sldId id="261" r:id="rId8"/>
    <p:sldId id="262" r:id="rId9"/>
    <p:sldId id="269" r:id="rId10"/>
    <p:sldId id="264" r:id="rId11"/>
    <p:sldId id="265" r:id="rId12"/>
    <p:sldId id="266" r:id="rId13"/>
    <p:sldId id="267" r:id="rId14"/>
    <p:sldId id="268" r:id="rId15"/>
  </p:sldIdLst>
  <p:sldSz cx="9144000" cy="5143500" type="screen16x9"/>
  <p:notesSz cx="5143500" cy="9144000"/>
  <p:embeddedFontLst>
    <p:embeddedFont>
      <p:font typeface="Inter"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8:46.122"/>
    </inkml:context>
    <inkml:brush xml:id="br0">
      <inkml:brushProperty name="width" value="0.35" units="cm"/>
      <inkml:brushProperty name="height" value="0.35" units="cm"/>
      <inkml:brushProperty name="color" value="#FFFFFF"/>
    </inkml:brush>
  </inkml:definitions>
  <inkml:trace contextRef="#ctx0" brushRef="#br0">200 221 4915,'5'-1'136,"0"1"0,0-1 0,1-1 0,-1 1 0,0-1 0,0 0 0,-1 0 0,7-3 0,-5 1-26,0 1-1,1 1 1,-1-1 0,11-1-1,82-8 1836,186 2-1,-252 9-1396,37-7-1,29-1 416,26-1 363,-2 1-55,-108 8-1046,0-1 0,0 0-1,0-1 1,18-7 0,-17 5 0,-1 1 0,1 1 1,24-3-1,-4 5 97,-8 0 253,52-7 0,35 1 1528,-207 9-1121,-153-4 142,179-7-1124,39 5 0,-38-1 0,-949 5 0,1009 1 0,0-1 0,0 1 0,-1 0 0,1 0 0,0 1 0,-9 3 0,13-4 0,0-1 0,1 0 0,-1 0 0,1 1 0,-1-1 0,0 0 0,1 1 0,-1-1 0,1 1 0,-1-1 0,1 1 0,-1-1 0,1 1 0,0-1 0,-1 1 0,1-1 0,0 1 0,-1-1 0,1 1 0,0 0 0,0-1 0,-1 1 0,1 0 0,0 0 0,0 0 0,1 0 0,-1 0 0,1 0 0,0 0 0,-1 0 0,1 0 0,0-1 0,0 1 0,-1 0 0,1 0 0,0 0 0,0-1 0,0 1 0,0 0 0,0-1 0,0 1 0,0-1 0,0 0 0,0 1 0,1 0 0,21 6 0,0 0 0,0-2 0,1 0 0,-1-1 0,46 0 0,364-3 0,-213-2 0,-191 6 0,-29-5 0,0 0 0,0 0 0,0 0 0,1 0 0,-1 0 0,0 0 0,0 0 0,0 0 0,0 0 0,0 0 0,0 0 0,1 0 0,-1 0 0,0 0 0,0 0 0,0 0 0,0 0 0,0 0 0,0 0 0,0 0 0,1 1 0,-1-1 0,0 0 0,0 0 0,0 0 0,0 0 0,0 0 0,0 0 0,0 1 0,0-1 0,0 0 0,0 0 0,0 0 0,0 0 0,0 0 0,0 0 0,0 1 0,0-1 0,0 0 0,0 0 0,0 0 0,0 0 0,0 0 0,0 0 0,0 1 0,0-1 0,0 0 0,0 0 0,0 0 0,-16 5 0,-51 14 0,53-14 0,0 0 0,0-1 0,0-1 0,-26 2 0,-184 13 0,148-10 0,-29 2 0,0 1 0,46-4 0,348-8 0,-277 2 0,0 0 0,0 1 0,0 1 0,0 0 0,13 5 0,-11-3 0,0-1 0,1 0 0,14 1 0,229-2 0,-133-6 0,494 3 0,-728 2 0,-120-4 0,161-7 0,42 5 0,-38-1 0,19 4 0,-68-9 0,42 3 0,0 3 0,-80 6 0,38 0 0,-268-2 0,372 0 0,0 1 0,0 0 0,0 0 0,0 1 0,0 1 0,1-1 0,-1 1 0,1 0 0,-15 9 0,23-12 0,0 0 0,0 1 0,0-1 0,-1 0 0,1 0 0,0 0 0,0 0 0,0 0 0,0 1 0,0-1 0,0 0 0,0 0 0,0 0 0,0 0 0,0 0 0,0 1 0,0-1 0,0 0 0,0 0 0,0 0 0,0 0 0,0 0 0,0 1 0,0-1 0,0 0 0,1 0 0,-1 0 0,0 0 0,0 0 0,0 0 0,0 0 0,0 1 0,0-1 0,0 0 0,0 0 0,0 0 0,1 0 0,-1 0 0,0 0 0,0 0 0,0 0 0,0 0 0,0 0 0,0 0 0,1 0 0,-1 1 0,0-1 0,0 0 0,0 0 0,14 6 0,15 3 0,17-4 0,1-1 0,85-6 0,-41 0 0,-55 1 0,54-10 0,-76 9 0,81-4 0,-63 5 0,46-6 0,94-12 0,14-2 0,-117 18 0,-57 4 0,1-1 0,0-1 0,0 0 0,0 0 0,0-2 0,0 1 0,14-6 0,-12 2 0,1 1 0,-1 1 0,1 1 0,-1 0 0,29-1 0,83 5 0,-49 1 0,22 0 0,116-4 0,-140-7 0,21 0 0,-97 8 0,0 1 0,0 0 0,0 0 0,0 0 0,0 0 0,1 0 0,-1 0 0,0 0 0,0 0 0,0-1 0,0 1 0,1 0 0,-1 0 0,0 0 0,0 0 0,0 0 0,0 0 0,1 0 0,-1 0 0,0 0 0,0 0 0,0 0 0,1 0 0,-1 0 0,0 0 0,0 0 0,0 1 0,0-1 0,1 0 0,-1 0 0,0 0 0,0 0 0,0 0 0,0 0 0,0 0 0,1 0 0,-1 1 0,0-1 0,0 0 0,0 0 0,0 0 0,0 0 0,0 0 0,0 1 0,0-1 0,1 0 0,-1 0 0,0 0 0,0 0 0,0 1 0,0-1 0,0 0 0,0 0 0,0 0 0,0 1 0,-12 6 0,-20 6 0,1-3 0,-40 5 0,-23 7 0,54-6 0,32-12 0,0 0 0,0-1 0,0 0 0,0-1 0,0 1 0,-13 0 0,-26-1 0,36-3 0,0 1 0,-1 1 0,1 0 0,0 0 0,0 1 0,-11 4 0,24-4 0,13 0 0,17 1 0,831-4 0,-834 0 0,43-9 0,-17 3 0,-53 6-17,0 1 0,0-1 0,1 1 0,-1-1 0,0 0 0,0 1 0,-1-1 0,1 0 0,0 0 0,0-1 0,0 1 0,-1 0 0,1-1 0,0 1 0,-1-1 0,0 1 0,1-1 0,-1 1 0,0-1 0,0 0 0,0 0 0,0 0 0,0 0 0,0 0 0,0 0 0,-1 0 0,1 0 0,-1 0 0,1 0 0,-1-3 0,2-8-195,-2 0 1,1 0 0,-4-26-1,1 14-37,1 5 66,2 13 96,-1-1 1,-1 0-1,1 0 1,-1 0-1,-1 0 1,-4-14-1,5 20 88,0-1 0,-1 1-1,0 0 1,1 0 0,-1-1 0,0 1-1,0 0 1,0 1 0,0-1-1,0 0 1,0 1 0,-1-1 0,1 1-1,0 0 1,-1-1 0,1 1-1,-1 0 1,0 1 0,1-1 0,-1 0-1,0 1 1,1 0 0,-1-1 0,-4 1-1,-21 0 58,-1 0 0,1 2-1,0 1 1,-49 13 0,-12 0 82,5-10-8,56-5-59,-44 6 0,42-3-9,1-1 1,-37-2-1,45-1-60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9:01.482"/>
    </inkml:context>
    <inkml:brush xml:id="br0">
      <inkml:brushProperty name="width" value="0.35" units="cm"/>
      <inkml:brushProperty name="height" value="0.35" units="cm"/>
      <inkml:brushProperty name="color" value="#FFFFFF"/>
    </inkml:brush>
  </inkml:definitions>
  <inkml:trace contextRef="#ctx0" brushRef="#br0">497 1 4915,'1'4'87,"-1"0"0,1 0-1,0 0 1,0 0 0,1 0 0,-1-1 0,1 1-1,-1 0 1,1-1 0,0 1 0,1-1-1,-1 1 1,1-1 0,-1 0 0,1 0 0,0 0-1,6 4 1,6 5 241,1-1 0,24 13-1,-26-16 24,-2-1-175,0-2 1,1 1-1,0-1 1,0-1-1,0 0 1,0-1-1,1-1 0,13 1 1,17 0 507,51-5 1,29 2 533,-103 5-857,-21-5-351,0 0 0,0 1 1,0-1-1,0 0 1,0 0-1,0 1 0,0-1 1,0 0-1,0 0 1,0 1-1,0-1 1,0 0-1,0 1 0,0-1 1,0 0-1,0 0 1,0 1-1,0-1 1,0 0-1,0 0 0,0 1 1,-1-1-1,1 0 1,0 0-1,0 1 0,0-1 1,0 0-1,-1 0 1,1 0-1,0 1 1,0-1-1,-1 0 0,1 0 1,0 0-1,0 0 1,0 0-1,-1 1 1,-37 18 740,28-14-543,-24 9 333,-1-2 0,0 0-1,-59 10 1,61-15-126,-10 3 366,1 3 0,-48 20 0,65-23-481,-10 4 462,1 2 0,-39 24 0,25-16-179,48-23-561,1-1 0,-1 0 0,0 1 1,1-1-1,-1 0 0,0 1 0,1-1 1,-1 0-1,0 1 0,1-1 0,-1 0 0,1 0 1,-1 0-1,1 1 0,-1-1 0,1 0 1,-1 0-1,0 0 0,1 0 0,-1 0 1,1 0-1,-1 0 0,1 0 0,-1 0 1,1 0-1,-1 0 0,1 0 0,-1 0 0,1 0 1,22 1 196,22-1-14,3 0-187,1-2 0,51-9 0,23 4-18,-123 7 0,-4 0 0,-37 0 0,16-1 0,0 1 0,1 1 0,-1 1 0,1 1 0,-1 1 0,-30 10 0,-28 9 0,45-14 0,18-3 0,-36 17 0,-6 2 0,19-11 0,-56 30 0,31-19 0,24-11 0,44-14 0,0 1 0,0-1 0,0 0 0,0 0 0,0 0 0,0 0 0,0 0 0,0 0 0,0 0 0,0 0 0,1 0 0,-1 1 0,0-1 0,0 0 0,0 0 0,0 0 0,0 0 0,0 0 0,0 0 0,0 0 0,0 1 0,0-1 0,0 0 0,0 0 0,0 0 0,0 0 0,0 0 0,0 0 0,0 0 0,0 1 0,0-1 0,0 0 0,0 0 0,0 0 0,0 0 0,0 0 0,-1 0 0,1 0 0,0 1 0,0-1 0,0 0 0,0 0 0,0 0 0,0 0 0,0 0 0,0 0 0,0 0 0,0 0 0,-1 0 0,1 0 0,0 0 0,0 0 0,0 0 0,0 0 0,0 1 0,0-1 0,-1 0 0,1 0 0,0 0 0,19 3 0,23-1 0,213-3 0,-244 0 0,1-1 0,0 0 0,-1 0 0,0-1 0,22-9 0,14-4 0,6 4 0,57-4 0,-90 13 0,119-11 0,-121 10 0,-1-1 0,1-1 0,17-8 0,-34 14 0,37-12 0,-1 2 0,1 1 0,1 2 0,71-3 0,46 9 0,4 0 0,-93-8 0,-43 5 0,42-2 0,-21 8 0,82 16 0,-119-17 0,106 33 0,-33-24 0,152-2 0,240-8 0,-469 0-73,30-2 251,-33 2-228,0 0 0,0 0 0,1 0 1,-1-1-1,0 1 0,0 0 0,0-1 0,0 1 0,0-1 0,0 1 0,0-1 0,0 0 0,0 1 1,0-1-1,0 0 0,0 0 0,0 1 0,0-1 0,-1 0 0,1 0 0,0 0 0,0 0 1,0-2-1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9:10.389"/>
    </inkml:context>
    <inkml:brush xml:id="br0">
      <inkml:brushProperty name="width" value="0.35" units="cm"/>
      <inkml:brushProperty name="height" value="0.35" units="cm"/>
      <inkml:brushProperty name="color" value="#FFFFFF"/>
    </inkml:brush>
  </inkml:definitions>
  <inkml:trace contextRef="#ctx0" brushRef="#br0">89 364 4915,'96'1'1450,"104"-3"537,-119-6-1137,41-2 344,295 11 3822,-435 0-4701,0 1-1,0 1 0,-34 10 0,33-8 12,-1 0 0,-40 3 1,12-6 128,17-2 204,-55 8-1,32-1 212,1-3 0,-93-5 0,47-2-4,-183 4-825,383 0-41,114-3 0,-148-7 0,-41 5 0,38-1 0,815 6 0,-859-2 0,0-1 0,20-5 0,36-3 0,65 12 0,57-4 0,-131-6 0,-41 4 0,38-2 0,8-2 0,-8 0 0,-60 7-8,1 1-1,-1 0 1,0-1 0,1 0-1,-1 1 1,0-2 0,0 1-1,1 0 1,-1-1 0,0 0-1,0 0 1,-1 0 0,1-1-1,0 1 1,-1-1 0,0 0-1,4-3 1,-5 3-36,0 0-1,0-1 1,0 1 0,0 0-1,-1-1 1,0 1 0,1-1-1,-1 0 1,-1 1-1,1-1 1,0 0 0,-1 1-1,0-1 1,0 0 0,0 0-1,0 0 1,-1 1 0,1-1-1,-1 0 1,-1-4 0,-1-4-147,-1 0 1,1 0-1,-11-20 1,12 28 187,-1 0 1,0 0 0,1 0 0,-1 0-1,0 1 1,-1 0 0,1-1 0,-1 1-1,1 0 1,-1 1 0,0-1-1,0 1 1,-6-3 0,-4-1 23,0 2 0,0 0 0,0 0 1,-1 1-1,0 1 0,1 1 0,-21-1 1,13 1 3,-115-15 137,128 15-144,0 0 0,-1-1 0,1 0 0,0-1 0,-15-6 1,14 5-2,-1 1 0,1-1 0,-1 2 0,-12-3 1,-31 2 36,26 2 0,-35-6 0,15 1 36,0 2 1,-92 5 0,48 1 13,34-1 5,-69 12 0,100-10-79,-36 6 101,-88 1-1,130-10-123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9:18.540"/>
    </inkml:context>
    <inkml:brush xml:id="br0">
      <inkml:brushProperty name="width" value="0.35" units="cm"/>
      <inkml:brushProperty name="height" value="0.35" units="cm"/>
      <inkml:brushProperty name="color" value="#FFFFFF"/>
    </inkml:brush>
  </inkml:definitions>
  <inkml:trace contextRef="#ctx0" brushRef="#br0">0 0 17846,'2775'73'0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9:20.413"/>
    </inkml:context>
    <inkml:brush xml:id="br0">
      <inkml:brushProperty name="width" value="0.35" units="cm"/>
      <inkml:brushProperty name="height" value="0.35" units="cm"/>
      <inkml:brushProperty name="color" value="#FFFFFF"/>
    </inkml:brush>
  </inkml:definitions>
  <inkml:trace contextRef="#ctx0" brushRef="#br0">2839 38 4915,'-544'0'5917,"524"-1"-5633,0-1-1,-20-5 1,-37-3 547,-85 12 821,-59-4 613,140-6-1434,-41-2 413,-350 11 2833,-237-1-3859,359 0-82,330 0-136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9:23.760"/>
    </inkml:context>
    <inkml:brush xml:id="br0">
      <inkml:brushProperty name="width" value="0.35" units="cm"/>
      <inkml:brushProperty name="height" value="0.35" units="cm"/>
      <inkml:brushProperty name="color" value="#FFFFFF"/>
    </inkml:brush>
  </inkml:definitions>
  <inkml:trace contextRef="#ctx0" brushRef="#br0">0 0 20042,'1657'217'0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9:27.748"/>
    </inkml:context>
    <inkml:brush xml:id="br0">
      <inkml:brushProperty name="width" value="0.35" units="cm"/>
      <inkml:brushProperty name="height" value="0.35" units="cm"/>
      <inkml:brushProperty name="color" value="#FFFFFF"/>
    </inkml:brush>
  </inkml:definitions>
  <inkml:trace contextRef="#ctx0" brushRef="#br0">252 36 10649,'-252'-36'0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0:19:32.746"/>
    </inkml:context>
    <inkml:brush xml:id="br0">
      <inkml:brushProperty name="width" value="0.35" units="cm"/>
      <inkml:brushProperty name="height" value="0.35" units="cm"/>
      <inkml:brushProperty name="color" value="#FFFFFF"/>
    </inkml:brush>
  </inkml:definitions>
  <inkml:trace contextRef="#ctx0" brushRef="#br0">309 0 4915,'-3'0'180,"-4"0"0,-4 0 1,-6 0 179,-4 0-180,-1 0 1,1 0-1,3 3 0,-1 1 180,-1 0-179,1-1-1,-1 0 0,-2-2 181,0 0-181,3 5 180,2 2-180,0 0 1,4-2-181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6269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txBody>
          <a:bodyPr/>
          <a:lstStyle/>
          <a:p>
            <a:endParaRPr lang="en-IN"/>
          </a:p>
        </p:txBody>
      </p:sp>
      <p:sp>
        <p:nvSpPr>
          <p:cNvPr id="3" name="Shape 1"/>
          <p:cNvSpPr/>
          <p:nvPr/>
        </p:nvSpPr>
        <p:spPr>
          <a:xfrm>
            <a:off x="0" y="0"/>
            <a:ext cx="9144000" cy="51435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customXml" Target="../ink/ink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4.xml"/><Relationship Id="rId7" Type="http://schemas.openxmlformats.org/officeDocument/2006/relationships/customXml" Target="../ink/ink6.xml"/><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png"/><Relationship Id="rId11" Type="http://schemas.openxmlformats.org/officeDocument/2006/relationships/customXml" Target="../ink/ink8.xml"/><Relationship Id="rId5" Type="http://schemas.openxmlformats.org/officeDocument/2006/relationships/customXml" Target="../ink/ink5.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customXml" Target="../ink/ink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microsoft.com/office/2007/relationships/media" Target="../media/media2.mov"/><Relationship Id="rId7" Type="http://schemas.openxmlformats.org/officeDocument/2006/relationships/image" Target="../media/image17.png"/><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16.png"/><Relationship Id="rId5" Type="http://schemas.openxmlformats.org/officeDocument/2006/relationships/slideLayout" Target="../slideLayouts/slideLayout8.xml"/><Relationship Id="rId4" Type="http://schemas.openxmlformats.org/officeDocument/2006/relationships/video" Target="../media/media2.mov"/></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DADBF1"/>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6677025" y="1816894"/>
            <a:ext cx="1504950" cy="1509713"/>
          </a:xfrm>
          <a:prstGeom prst="rect">
            <a:avLst/>
          </a:prstGeom>
        </p:spPr>
      </p:pic>
      <p:sp>
        <p:nvSpPr>
          <p:cNvPr id="4" name="Text 1"/>
          <p:cNvSpPr/>
          <p:nvPr/>
        </p:nvSpPr>
        <p:spPr>
          <a:xfrm>
            <a:off x="496119" y="496491"/>
            <a:ext cx="4722763" cy="885974"/>
          </a:xfrm>
          <a:prstGeom prst="rect">
            <a:avLst/>
          </a:prstGeom>
          <a:noFill/>
          <a:ln/>
        </p:spPr>
        <p:txBody>
          <a:bodyPr wrap="squar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Grip Force Prediction of Microgripper</a:t>
            </a:r>
            <a:endParaRPr lang="en-US" sz="2750" dirty="0"/>
          </a:p>
        </p:txBody>
      </p:sp>
      <p:sp>
        <p:nvSpPr>
          <p:cNvPr id="5" name="Text 2"/>
          <p:cNvSpPr/>
          <p:nvPr/>
        </p:nvSpPr>
        <p:spPr>
          <a:xfrm>
            <a:off x="496119" y="1595065"/>
            <a:ext cx="4722763" cy="226814"/>
          </a:xfrm>
          <a:prstGeom prst="rect">
            <a:avLst/>
          </a:prstGeom>
          <a:noFill/>
          <a:ln/>
        </p:spPr>
        <p:txBody>
          <a:bodyPr wrap="none" lIns="0" tIns="0" rIns="0" bIns="0" rtlCol="0" anchor="t"/>
          <a:lstStyle/>
          <a:p>
            <a:pPr marL="0" indent="0" algn="l">
              <a:lnSpc>
                <a:spcPts val="1750"/>
              </a:lnSpc>
              <a:buNone/>
            </a:pPr>
            <a:r>
              <a:rPr lang="en-US" sz="1100" b="1" dirty="0">
                <a:solidFill>
                  <a:srgbClr val="272525"/>
                </a:solidFill>
                <a:latin typeface="Inter" pitchFamily="34" charset="0"/>
                <a:ea typeface="Inter" pitchFamily="34" charset="-122"/>
                <a:cs typeface="Inter" pitchFamily="34" charset="-120"/>
              </a:rPr>
              <a:t>Presented by:</a:t>
            </a:r>
            <a:endParaRPr lang="en-US" sz="1100" dirty="0"/>
          </a:p>
        </p:txBody>
      </p:sp>
      <p:sp>
        <p:nvSpPr>
          <p:cNvPr id="6" name="Text 3"/>
          <p:cNvSpPr/>
          <p:nvPr/>
        </p:nvSpPr>
        <p:spPr>
          <a:xfrm>
            <a:off x="496119" y="1981349"/>
            <a:ext cx="4722763" cy="779562"/>
          </a:xfrm>
          <a:prstGeom prst="rect">
            <a:avLst/>
          </a:prstGeom>
          <a:noFill/>
          <a:ln/>
        </p:spPr>
        <p:txBody>
          <a:bodyPr wrap="square" lIns="0" tIns="0" rIns="0" bIns="0" rtlCol="0" anchor="t"/>
          <a:lstStyle/>
          <a:p>
            <a:pPr marL="342900" indent="-342900" algn="l">
              <a:lnSpc>
                <a:spcPts val="1750"/>
              </a:lnSpc>
              <a:buSzPct val="100000"/>
              <a:buChar char="•"/>
            </a:pPr>
            <a:r>
              <a:rPr lang="en-US" sz="1100" dirty="0">
                <a:solidFill>
                  <a:srgbClr val="272525"/>
                </a:solidFill>
                <a:latin typeface="Inter" pitchFamily="34" charset="0"/>
                <a:ea typeface="Inter" pitchFamily="34" charset="-122"/>
                <a:cs typeface="Inter" pitchFamily="34" charset="-120"/>
              </a:rPr>
              <a:t>Aryan Jha - BTECH/10344/23</a:t>
            </a:r>
            <a:endParaRPr lang="en-US" sz="1100" dirty="0"/>
          </a:p>
          <a:p>
            <a:pPr marL="342900" indent="-342900" algn="l">
              <a:lnSpc>
                <a:spcPts val="1750"/>
              </a:lnSpc>
              <a:buSzPct val="100000"/>
              <a:buChar char="•"/>
            </a:pPr>
            <a:r>
              <a:rPr lang="en-US" sz="1100" dirty="0">
                <a:solidFill>
                  <a:srgbClr val="272525"/>
                </a:solidFill>
                <a:latin typeface="Inter" pitchFamily="34" charset="0"/>
                <a:ea typeface="Inter" pitchFamily="34" charset="-122"/>
                <a:cs typeface="Inter" pitchFamily="34" charset="-120"/>
              </a:rPr>
              <a:t>Saurav Khyalia - BTECH/10331/23</a:t>
            </a:r>
            <a:endParaRPr lang="en-US" sz="1100" dirty="0"/>
          </a:p>
          <a:p>
            <a:pPr marL="342900" indent="-342900" algn="l">
              <a:lnSpc>
                <a:spcPts val="1750"/>
              </a:lnSpc>
              <a:buSzPct val="100000"/>
              <a:buChar char="•"/>
            </a:pPr>
            <a:r>
              <a:rPr lang="en-US" sz="1100" dirty="0">
                <a:solidFill>
                  <a:srgbClr val="272525"/>
                </a:solidFill>
                <a:latin typeface="Inter" pitchFamily="34" charset="0"/>
                <a:ea typeface="Inter" pitchFamily="34" charset="-122"/>
                <a:cs typeface="Inter" pitchFamily="34" charset="-120"/>
              </a:rPr>
              <a:t>Arif Ahmad - BTECH/10333/23</a:t>
            </a:r>
            <a:endParaRPr lang="en-US" sz="1100" dirty="0"/>
          </a:p>
        </p:txBody>
      </p:sp>
      <p:sp>
        <p:nvSpPr>
          <p:cNvPr id="7" name="Text 4"/>
          <p:cNvSpPr/>
          <p:nvPr/>
        </p:nvSpPr>
        <p:spPr>
          <a:xfrm>
            <a:off x="496119" y="2920380"/>
            <a:ext cx="4722763" cy="181421"/>
          </a:xfrm>
          <a:prstGeom prst="rect">
            <a:avLst/>
          </a:prstGeom>
          <a:noFill/>
          <a:ln/>
        </p:spPr>
        <p:txBody>
          <a:bodyPr wrap="none" lIns="0" tIns="0" rIns="0" bIns="0" rtlCol="0" anchor="t"/>
          <a:lstStyle/>
          <a:p>
            <a:pPr marL="0" indent="0" algn="ctr">
              <a:lnSpc>
                <a:spcPts val="1400"/>
              </a:lnSpc>
              <a:buNone/>
            </a:pPr>
            <a:r>
              <a:rPr lang="en-US" sz="850" dirty="0">
                <a:solidFill>
                  <a:srgbClr val="272525"/>
                </a:solidFill>
                <a:latin typeface="Inter" pitchFamily="34" charset="0"/>
                <a:ea typeface="Inter" pitchFamily="34" charset="-122"/>
                <a:cs typeface="Inter" pitchFamily="34" charset="-120"/>
              </a:rPr>
              <a:t>DEPARTMENT OF ELECTRONICS AND COMMUNICATION ENGINEERING</a:t>
            </a:r>
            <a:endParaRPr lang="en-US" sz="850" dirty="0"/>
          </a:p>
        </p:txBody>
      </p:sp>
      <p:sp>
        <p:nvSpPr>
          <p:cNvPr id="8" name="Text 5"/>
          <p:cNvSpPr/>
          <p:nvPr/>
        </p:nvSpPr>
        <p:spPr>
          <a:xfrm>
            <a:off x="496119" y="3261271"/>
            <a:ext cx="4722763" cy="226814"/>
          </a:xfrm>
          <a:prstGeom prst="rect">
            <a:avLst/>
          </a:prstGeom>
          <a:noFill/>
          <a:ln/>
        </p:spPr>
        <p:txBody>
          <a:bodyPr wrap="none" lIns="0" tIns="0" rIns="0" bIns="0" rtlCol="0" anchor="t"/>
          <a:lstStyle/>
          <a:p>
            <a:pPr marL="0" indent="0" algn="ctr">
              <a:lnSpc>
                <a:spcPts val="1750"/>
              </a:lnSpc>
              <a:buNone/>
            </a:pPr>
            <a:r>
              <a:rPr lang="en-US" sz="1100" b="1" dirty="0">
                <a:solidFill>
                  <a:srgbClr val="F44444"/>
                </a:solidFill>
                <a:latin typeface="Inter" pitchFamily="34" charset="0"/>
                <a:ea typeface="Inter" pitchFamily="34" charset="-122"/>
                <a:cs typeface="Inter" pitchFamily="34" charset="-120"/>
              </a:rPr>
              <a:t>BIRLA INSTITUTE OF TECHNOLOGY , MESRA</a:t>
            </a:r>
            <a:endParaRPr lang="en-US" sz="1100" dirty="0"/>
          </a:p>
        </p:txBody>
      </p:sp>
      <p:sp>
        <p:nvSpPr>
          <p:cNvPr id="9" name="Text 6"/>
          <p:cNvSpPr/>
          <p:nvPr/>
        </p:nvSpPr>
        <p:spPr>
          <a:xfrm>
            <a:off x="496119" y="3647554"/>
            <a:ext cx="4722763" cy="226814"/>
          </a:xfrm>
          <a:prstGeom prst="rect">
            <a:avLst/>
          </a:prstGeom>
          <a:noFill/>
          <a:ln/>
        </p:spPr>
        <p:txBody>
          <a:bodyPr wrap="none" lIns="0" tIns="0" rIns="0" bIns="0" rtlCol="0" anchor="t"/>
          <a:lstStyle/>
          <a:p>
            <a:pPr marL="0" indent="0" algn="ctr">
              <a:lnSpc>
                <a:spcPts val="1750"/>
              </a:lnSpc>
              <a:buNone/>
            </a:pPr>
            <a:r>
              <a:rPr lang="en-US" sz="1100" dirty="0">
                <a:solidFill>
                  <a:srgbClr val="272525"/>
                </a:solidFill>
                <a:latin typeface="Inter" pitchFamily="34" charset="0"/>
                <a:ea typeface="Inter" pitchFamily="34" charset="-122"/>
                <a:cs typeface="Inter" pitchFamily="34" charset="-120"/>
              </a:rPr>
              <a:t>Under the Supervision of:</a:t>
            </a:r>
            <a:endParaRPr lang="en-US" sz="1100" dirty="0"/>
          </a:p>
        </p:txBody>
      </p:sp>
      <p:sp>
        <p:nvSpPr>
          <p:cNvPr id="10" name="Text 7"/>
          <p:cNvSpPr/>
          <p:nvPr/>
        </p:nvSpPr>
        <p:spPr>
          <a:xfrm>
            <a:off x="496119" y="4033837"/>
            <a:ext cx="4722763" cy="226814"/>
          </a:xfrm>
          <a:prstGeom prst="rect">
            <a:avLst/>
          </a:prstGeom>
          <a:noFill/>
          <a:ln/>
        </p:spPr>
        <p:txBody>
          <a:bodyPr wrap="none" lIns="0" tIns="0" rIns="0" bIns="0" rtlCol="0" anchor="t"/>
          <a:lstStyle/>
          <a:p>
            <a:pPr marL="0" indent="0" algn="ctr">
              <a:lnSpc>
                <a:spcPts val="1750"/>
              </a:lnSpc>
              <a:buNone/>
            </a:pPr>
            <a:r>
              <a:rPr lang="en-US" sz="1100" b="1" dirty="0">
                <a:solidFill>
                  <a:srgbClr val="272525"/>
                </a:solidFill>
                <a:latin typeface="Inter" pitchFamily="34" charset="0"/>
                <a:ea typeface="Inter" pitchFamily="34" charset="-122"/>
                <a:cs typeface="Inter" pitchFamily="34" charset="-120"/>
              </a:rPr>
              <a:t> </a:t>
            </a:r>
            <a:r>
              <a:rPr lang="en-US" sz="1100" b="1" dirty="0">
                <a:solidFill>
                  <a:srgbClr val="204C8E"/>
                </a:solidFill>
                <a:latin typeface="Inter" pitchFamily="34" charset="0"/>
                <a:ea typeface="Inter" pitchFamily="34" charset="-122"/>
                <a:cs typeface="Inter" pitchFamily="34" charset="-120"/>
              </a:rPr>
              <a:t>Dr. Neela Chattoraj</a:t>
            </a:r>
            <a:endParaRPr lang="en-US" sz="1100" dirty="0"/>
          </a:p>
        </p:txBody>
      </p:sp>
      <p:sp>
        <p:nvSpPr>
          <p:cNvPr id="11" name="Text 8"/>
          <p:cNvSpPr/>
          <p:nvPr/>
        </p:nvSpPr>
        <p:spPr>
          <a:xfrm>
            <a:off x="496119" y="4420121"/>
            <a:ext cx="4722763" cy="226814"/>
          </a:xfrm>
          <a:prstGeom prst="rect">
            <a:avLst/>
          </a:prstGeom>
          <a:noFill/>
          <a:ln/>
        </p:spPr>
        <p:txBody>
          <a:bodyPr wrap="none" lIns="0" tIns="0" rIns="0" bIns="0" rtlCol="0" anchor="t"/>
          <a:lstStyle/>
          <a:p>
            <a:pPr marL="0" indent="0" algn="l">
              <a:lnSpc>
                <a:spcPts val="1750"/>
              </a:lnSpc>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74489" y="345207"/>
            <a:ext cx="2824237" cy="352946"/>
          </a:xfrm>
          <a:prstGeom prst="rect">
            <a:avLst/>
          </a:prstGeom>
          <a:noFill/>
          <a:ln/>
        </p:spPr>
        <p:txBody>
          <a:bodyPr wrap="none" lIns="0" tIns="0" rIns="0" bIns="0" rtlCol="0" anchor="t"/>
          <a:lstStyle/>
          <a:p>
            <a:pPr marL="0" indent="0" algn="l">
              <a:lnSpc>
                <a:spcPts val="2750"/>
              </a:lnSpc>
              <a:buNone/>
            </a:pPr>
            <a:r>
              <a:rPr lang="en-US" sz="3200" b="1" dirty="0">
                <a:solidFill>
                  <a:srgbClr val="000000"/>
                </a:solidFill>
                <a:latin typeface="Inter Bold" pitchFamily="34" charset="0"/>
                <a:ea typeface="Inter Bold" pitchFamily="34" charset="-122"/>
                <a:cs typeface="Inter Bold" pitchFamily="34" charset="-120"/>
              </a:rPr>
              <a:t>Project Overview: </a:t>
            </a:r>
            <a:endParaRPr lang="en-US" sz="3200" dirty="0"/>
          </a:p>
        </p:txBody>
      </p:sp>
      <p:sp>
        <p:nvSpPr>
          <p:cNvPr id="3" name="Text 1"/>
          <p:cNvSpPr/>
          <p:nvPr/>
        </p:nvSpPr>
        <p:spPr>
          <a:xfrm>
            <a:off x="674489" y="878160"/>
            <a:ext cx="7794947" cy="324743"/>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Inter" pitchFamily="34" charset="0"/>
                <a:ea typeface="Inter" pitchFamily="34" charset="-122"/>
                <a:cs typeface="Inter" pitchFamily="34" charset="-120"/>
              </a:rPr>
              <a:t>A microgripper is a very small gripping device used to hold, manipulate, or assemble tiny objects that are too small for human hands or conventional tools.</a:t>
            </a:r>
            <a:endParaRPr lang="en-US" sz="1000" dirty="0"/>
          </a:p>
        </p:txBody>
      </p:sp>
      <p:sp>
        <p:nvSpPr>
          <p:cNvPr id="4" name="Text 2"/>
          <p:cNvSpPr/>
          <p:nvPr/>
        </p:nvSpPr>
        <p:spPr>
          <a:xfrm>
            <a:off x="674489" y="1304106"/>
            <a:ext cx="7794947" cy="162371"/>
          </a:xfrm>
          <a:prstGeom prst="rect">
            <a:avLst/>
          </a:prstGeom>
          <a:noFill/>
          <a:ln/>
        </p:spPr>
        <p:txBody>
          <a:bodyPr wrap="none" lIns="0" tIns="0" rIns="0" bIns="0" rtlCol="0" anchor="t"/>
          <a:lstStyle/>
          <a:p>
            <a:pPr marL="0" indent="0" algn="l">
              <a:lnSpc>
                <a:spcPts val="1250"/>
              </a:lnSpc>
              <a:buNone/>
            </a:pPr>
            <a:r>
              <a:rPr lang="en-US" sz="1000" dirty="0">
                <a:solidFill>
                  <a:srgbClr val="272525"/>
                </a:solidFill>
                <a:latin typeface="Inter" pitchFamily="34" charset="0"/>
                <a:ea typeface="Inter" pitchFamily="34" charset="-122"/>
                <a:cs typeface="Inter" pitchFamily="34" charset="-120"/>
              </a:rPr>
              <a:t>Uses:</a:t>
            </a:r>
            <a:endParaRPr lang="en-US" sz="1000" dirty="0"/>
          </a:p>
        </p:txBody>
      </p:sp>
      <p:sp>
        <p:nvSpPr>
          <p:cNvPr id="5" name="Text 3"/>
          <p:cNvSpPr/>
          <p:nvPr/>
        </p:nvSpPr>
        <p:spPr>
          <a:xfrm>
            <a:off x="674489" y="1567681"/>
            <a:ext cx="7794947" cy="162371"/>
          </a:xfrm>
          <a:prstGeom prst="rect">
            <a:avLst/>
          </a:prstGeom>
          <a:noFill/>
          <a:ln/>
        </p:spPr>
        <p:txBody>
          <a:bodyPr wrap="none" lIns="0" tIns="0" rIns="0" bIns="0" rtlCol="0" anchor="t"/>
          <a:lstStyle/>
          <a:p>
            <a:pPr marL="0" indent="0" algn="l">
              <a:lnSpc>
                <a:spcPts val="1250"/>
              </a:lnSpc>
              <a:buNone/>
            </a:pPr>
            <a:r>
              <a:rPr lang="en-US" sz="1000" dirty="0">
                <a:solidFill>
                  <a:srgbClr val="272525"/>
                </a:solidFill>
                <a:latin typeface="Inter" pitchFamily="34" charset="0"/>
                <a:ea typeface="Inter" pitchFamily="34" charset="-122"/>
                <a:cs typeface="Inter" pitchFamily="34" charset="-120"/>
              </a:rPr>
              <a:t>→ Micro-electromechanical systems (MEMS), biotechnology, microsurgery, and precision manufacturing.</a:t>
            </a:r>
            <a:endParaRPr lang="en-US" sz="1000" dirty="0"/>
          </a:p>
        </p:txBody>
      </p:sp>
      <p:sp>
        <p:nvSpPr>
          <p:cNvPr id="6" name="Text 4"/>
          <p:cNvSpPr/>
          <p:nvPr/>
        </p:nvSpPr>
        <p:spPr>
          <a:xfrm>
            <a:off x="674489" y="1831256"/>
            <a:ext cx="7794947" cy="162371"/>
          </a:xfrm>
          <a:prstGeom prst="rect">
            <a:avLst/>
          </a:prstGeom>
          <a:noFill/>
          <a:ln/>
        </p:spPr>
        <p:txBody>
          <a:bodyPr wrap="none" lIns="0" tIns="0" rIns="0" bIns="0" rtlCol="0" anchor="t"/>
          <a:lstStyle/>
          <a:p>
            <a:pPr marL="0" indent="0" algn="l">
              <a:lnSpc>
                <a:spcPts val="1250"/>
              </a:lnSpc>
              <a:buNone/>
            </a:pPr>
            <a:r>
              <a:rPr lang="en-US" sz="1000" dirty="0">
                <a:solidFill>
                  <a:srgbClr val="272525"/>
                </a:solidFill>
                <a:latin typeface="Inter" pitchFamily="34" charset="0"/>
                <a:ea typeface="Inter" pitchFamily="34" charset="-122"/>
                <a:cs typeface="Inter" pitchFamily="34" charset="-120"/>
              </a:rPr>
              <a:t>→Main Parts of a Microgripper: </a:t>
            </a:r>
            <a:endParaRPr lang="en-US" sz="1000" dirty="0"/>
          </a:p>
        </p:txBody>
      </p:sp>
      <p:sp>
        <p:nvSpPr>
          <p:cNvPr id="7" name="Text 5"/>
          <p:cNvSpPr/>
          <p:nvPr/>
        </p:nvSpPr>
        <p:spPr>
          <a:xfrm>
            <a:off x="674489" y="2094830"/>
            <a:ext cx="7794947" cy="961879"/>
          </a:xfrm>
          <a:prstGeom prst="rect">
            <a:avLst/>
          </a:prstGeom>
          <a:noFill/>
          <a:ln/>
        </p:spPr>
        <p:txBody>
          <a:bodyPr wrap="square" lIns="0" tIns="0" rIns="0" bIns="0" rtlCol="0" anchor="t"/>
          <a:lstStyle/>
          <a:p>
            <a:pPr marL="342900" indent="-342900" algn="just">
              <a:lnSpc>
                <a:spcPts val="1250"/>
              </a:lnSpc>
              <a:buSzPct val="100000"/>
              <a:buChar char="•"/>
            </a:pPr>
            <a:r>
              <a:rPr lang="en-US" sz="1000" b="1" dirty="0">
                <a:solidFill>
                  <a:srgbClr val="272525"/>
                </a:solidFill>
                <a:latin typeface="Inter" pitchFamily="34" charset="0"/>
                <a:ea typeface="Inter" pitchFamily="34" charset="-122"/>
                <a:cs typeface="Inter" pitchFamily="34" charset="-120"/>
              </a:rPr>
              <a:t>Arms (Jaws)</a:t>
            </a:r>
            <a:r>
              <a:rPr lang="en-US" sz="1000" dirty="0">
                <a:solidFill>
                  <a:srgbClr val="272525"/>
                </a:solidFill>
                <a:latin typeface="Inter" pitchFamily="34" charset="0"/>
                <a:ea typeface="Inter" pitchFamily="34" charset="-122"/>
                <a:cs typeface="Inter" pitchFamily="34" charset="-120"/>
              </a:rPr>
              <a:t> :The two movable parts that open and close Used to hold the tiny object       </a:t>
            </a:r>
            <a:endParaRPr lang="en-US" sz="1000" dirty="0"/>
          </a:p>
          <a:p>
            <a:pPr marL="342900" indent="-342900" algn="just">
              <a:lnSpc>
                <a:spcPts val="1250"/>
              </a:lnSpc>
              <a:buSzPct val="100000"/>
              <a:buChar char="•"/>
            </a:pPr>
            <a:r>
              <a:rPr lang="en-US" sz="1000" b="1" dirty="0">
                <a:solidFill>
                  <a:srgbClr val="272525"/>
                </a:solidFill>
                <a:latin typeface="Inter" pitchFamily="34" charset="0"/>
                <a:ea typeface="Inter" pitchFamily="34" charset="-122"/>
                <a:cs typeface="Inter" pitchFamily="34" charset="-120"/>
              </a:rPr>
              <a:t>Actuator </a:t>
            </a:r>
            <a:r>
              <a:rPr lang="en-US" sz="1000" dirty="0">
                <a:solidFill>
                  <a:srgbClr val="272525"/>
                </a:solidFill>
                <a:latin typeface="Inter" pitchFamily="34" charset="0"/>
                <a:ea typeface="Inter" pitchFamily="34" charset="-122"/>
                <a:cs typeface="Inter" pitchFamily="34" charset="-120"/>
              </a:rPr>
              <a:t>:The driving mechanism that moves the arms ,converts electrical energy into mechanical motion </a:t>
            </a:r>
            <a:endParaRPr lang="en-US" sz="1000" dirty="0"/>
          </a:p>
          <a:p>
            <a:pPr marL="342900" indent="-342900" algn="just">
              <a:lnSpc>
                <a:spcPts val="1250"/>
              </a:lnSpc>
              <a:buSzPct val="100000"/>
              <a:buChar char="•"/>
            </a:pPr>
            <a:r>
              <a:rPr lang="en-US" sz="1000" b="1" dirty="0">
                <a:solidFill>
                  <a:srgbClr val="272525"/>
                </a:solidFill>
                <a:latin typeface="Inter" pitchFamily="34" charset="0"/>
                <a:ea typeface="Inter" pitchFamily="34" charset="-122"/>
                <a:cs typeface="Inter" pitchFamily="34" charset="-120"/>
              </a:rPr>
              <a:t>Anchor</a:t>
            </a:r>
            <a:r>
              <a:rPr lang="en-US" sz="1000" dirty="0">
                <a:solidFill>
                  <a:srgbClr val="272525"/>
                </a:solidFill>
                <a:latin typeface="Inter" pitchFamily="34" charset="0"/>
                <a:ea typeface="Inter" pitchFamily="34" charset="-122"/>
                <a:cs typeface="Inter" pitchFamily="34" charset="-120"/>
              </a:rPr>
              <a:t>: Fixed support that holds the device in place Provides stability during gripping</a:t>
            </a:r>
            <a:endParaRPr lang="en-US" sz="1000" dirty="0"/>
          </a:p>
          <a:p>
            <a:pPr marL="342900" indent="-342900" algn="just">
              <a:lnSpc>
                <a:spcPts val="1250"/>
              </a:lnSpc>
              <a:buSzPct val="100000"/>
              <a:buChar char="•"/>
            </a:pPr>
            <a:r>
              <a:rPr lang="en-US" sz="1000" b="1" dirty="0">
                <a:solidFill>
                  <a:srgbClr val="272525"/>
                </a:solidFill>
                <a:latin typeface="Inter" pitchFamily="34" charset="0"/>
                <a:ea typeface="Inter" pitchFamily="34" charset="-122"/>
                <a:cs typeface="Inter" pitchFamily="34" charset="-120"/>
              </a:rPr>
              <a:t>Surrogate ML Model:</a:t>
            </a:r>
            <a:r>
              <a:rPr lang="en-US" sz="1000" dirty="0">
                <a:solidFill>
                  <a:srgbClr val="272525"/>
                </a:solidFill>
                <a:latin typeface="Inter" pitchFamily="34" charset="0"/>
                <a:ea typeface="Inter" pitchFamily="34" charset="-122"/>
                <a:cs typeface="Inter" pitchFamily="34" charset="-120"/>
              </a:rPr>
              <a:t> A trained regression algorithm used to bypass FEA computational latency, providing sub-millisecond force estimation.</a:t>
            </a:r>
            <a:endParaRPr lang="en-US" sz="1000" dirty="0"/>
          </a:p>
        </p:txBody>
      </p:sp>
      <p:pic>
        <p:nvPicPr>
          <p:cNvPr id="8" name="Image 0" descr="preencoded.png"/>
          <p:cNvPicPr>
            <a:picLocks noChangeAspect="1"/>
          </p:cNvPicPr>
          <p:nvPr/>
        </p:nvPicPr>
        <p:blipFill>
          <a:blip r:embed="rId3"/>
          <a:stretch>
            <a:fillRect/>
          </a:stretch>
        </p:blipFill>
        <p:spPr>
          <a:xfrm>
            <a:off x="2343894" y="3136576"/>
            <a:ext cx="4456063" cy="1858342"/>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2960369-51F7-3B7B-A588-489B5D94691C}"/>
                  </a:ext>
                </a:extLst>
              </p14:cNvPr>
              <p14:cNvContentPartPr/>
              <p14:nvPr/>
            </p14:nvContentPartPr>
            <p14:xfrm>
              <a:off x="8027890" y="4887998"/>
              <a:ext cx="988920" cy="106920"/>
            </p14:xfrm>
          </p:contentPart>
        </mc:Choice>
        <mc:Fallback xmlns="">
          <p:pic>
            <p:nvPicPr>
              <p:cNvPr id="10" name="Ink 9">
                <a:extLst>
                  <a:ext uri="{FF2B5EF4-FFF2-40B4-BE49-F238E27FC236}">
                    <a16:creationId xmlns:a16="http://schemas.microsoft.com/office/drawing/2014/main" id="{A2960369-51F7-3B7B-A588-489B5D94691C}"/>
                  </a:ext>
                </a:extLst>
              </p:cNvPr>
              <p:cNvPicPr/>
              <p:nvPr/>
            </p:nvPicPr>
            <p:blipFill>
              <a:blip r:embed="rId5"/>
              <a:stretch>
                <a:fillRect/>
              </a:stretch>
            </p:blipFill>
            <p:spPr>
              <a:xfrm>
                <a:off x="7965250" y="4825358"/>
                <a:ext cx="1114560" cy="23256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30585"/>
            <a:ext cx="3925863" cy="442987"/>
          </a:xfrm>
          <a:prstGeom prst="rect">
            <a:avLst/>
          </a:prstGeom>
          <a:noFill/>
          <a:ln/>
        </p:spPr>
        <p:txBody>
          <a:bodyPr wrap="none" lIns="0" tIns="0" rIns="0" bIns="0" rtlCol="0" anchor="t"/>
          <a:lstStyle/>
          <a:p>
            <a:pPr marL="0" indent="0" algn="l">
              <a:lnSpc>
                <a:spcPts val="3450"/>
              </a:lnSpc>
              <a:buNone/>
            </a:pPr>
            <a:r>
              <a:rPr lang="en-US" sz="3200" b="1" dirty="0">
                <a:solidFill>
                  <a:srgbClr val="000000"/>
                </a:solidFill>
                <a:latin typeface="Inter Bold" pitchFamily="34" charset="0"/>
                <a:ea typeface="Inter Bold" pitchFamily="34" charset="-122"/>
                <a:cs typeface="Inter Bold" pitchFamily="34" charset="-120"/>
              </a:rPr>
              <a:t>Workflow Architecture</a:t>
            </a:r>
            <a:endParaRPr lang="en-US" sz="3200" dirty="0"/>
          </a:p>
        </p:txBody>
      </p:sp>
      <p:pic>
        <p:nvPicPr>
          <p:cNvPr id="3" name="Image 0" descr="preencoded.png"/>
          <p:cNvPicPr>
            <a:picLocks noChangeAspect="1"/>
          </p:cNvPicPr>
          <p:nvPr/>
        </p:nvPicPr>
        <p:blipFill>
          <a:blip r:embed="rId3"/>
          <a:stretch>
            <a:fillRect/>
          </a:stretch>
        </p:blipFill>
        <p:spPr>
          <a:xfrm>
            <a:off x="496119" y="1286173"/>
            <a:ext cx="708794" cy="1043657"/>
          </a:xfrm>
          <a:prstGeom prst="rect">
            <a:avLst/>
          </a:prstGeom>
        </p:spPr>
      </p:pic>
      <p:sp>
        <p:nvSpPr>
          <p:cNvPr id="4" name="Text 1"/>
          <p:cNvSpPr/>
          <p:nvPr/>
        </p:nvSpPr>
        <p:spPr>
          <a:xfrm>
            <a:off x="1346671" y="1427931"/>
            <a:ext cx="1772022" cy="221456"/>
          </a:xfrm>
          <a:prstGeom prst="rect">
            <a:avLst/>
          </a:prstGeom>
          <a:noFill/>
          <a:ln/>
        </p:spPr>
        <p:txBody>
          <a:bodyPr wrap="none" lIns="0" tIns="0" rIns="0" bIns="0" rtlCol="0" anchor="t"/>
          <a:lstStyle/>
          <a:p>
            <a:pPr marL="0" indent="0" algn="l">
              <a:lnSpc>
                <a:spcPts val="1700"/>
              </a:lnSpc>
              <a:buNone/>
            </a:pPr>
            <a:r>
              <a:rPr lang="en-US" b="1" dirty="0">
                <a:solidFill>
                  <a:srgbClr val="272525"/>
                </a:solidFill>
                <a:latin typeface="Inter Bold" pitchFamily="34" charset="0"/>
                <a:ea typeface="Inter Bold" pitchFamily="34" charset="-122"/>
                <a:cs typeface="Inter Bold" pitchFamily="34" charset="-120"/>
              </a:rPr>
              <a:t>Guiding Principle</a:t>
            </a:r>
            <a:endParaRPr lang="en-US" dirty="0"/>
          </a:p>
        </p:txBody>
      </p:sp>
      <p:sp>
        <p:nvSpPr>
          <p:cNvPr id="5" name="Text 2"/>
          <p:cNvSpPr/>
          <p:nvPr/>
        </p:nvSpPr>
        <p:spPr>
          <a:xfrm>
            <a:off x="1346671" y="1734443"/>
            <a:ext cx="7301210" cy="453628"/>
          </a:xfrm>
          <a:prstGeom prst="rect">
            <a:avLst/>
          </a:prstGeom>
          <a:noFill/>
          <a:ln/>
        </p:spPr>
        <p:txBody>
          <a:bodyPr wrap="squar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A microgripper works like a mini robotic hand: Electrical signal is given to the actuator Actuator produces motion Arms move inward or outward Object is gripped gently and precisely</a:t>
            </a:r>
            <a:endParaRPr lang="en-US" sz="1200" dirty="0"/>
          </a:p>
        </p:txBody>
      </p:sp>
      <p:pic>
        <p:nvPicPr>
          <p:cNvPr id="6" name="Image 1" descr="preencoded.png"/>
          <p:cNvPicPr>
            <a:picLocks noChangeAspect="1"/>
          </p:cNvPicPr>
          <p:nvPr/>
        </p:nvPicPr>
        <p:blipFill>
          <a:blip r:embed="rId4"/>
          <a:stretch>
            <a:fillRect/>
          </a:stretch>
        </p:blipFill>
        <p:spPr>
          <a:xfrm>
            <a:off x="496119" y="2329830"/>
            <a:ext cx="708794" cy="2183085"/>
          </a:xfrm>
          <a:prstGeom prst="rect">
            <a:avLst/>
          </a:prstGeom>
        </p:spPr>
      </p:pic>
      <p:sp>
        <p:nvSpPr>
          <p:cNvPr id="7" name="Text 3"/>
          <p:cNvSpPr/>
          <p:nvPr/>
        </p:nvSpPr>
        <p:spPr>
          <a:xfrm>
            <a:off x="1346671" y="2471589"/>
            <a:ext cx="7301210" cy="1134070"/>
          </a:xfrm>
          <a:prstGeom prst="rect">
            <a:avLst/>
          </a:prstGeom>
          <a:noFill/>
          <a:ln/>
        </p:spPr>
        <p:txBody>
          <a:bodyPr wrap="square" lIns="0" tIns="0" rIns="0" bIns="0" rtlCol="0" anchor="t"/>
          <a:lstStyle/>
          <a:p>
            <a:pPr marL="0" indent="0" algn="l">
              <a:lnSpc>
                <a:spcPts val="1750"/>
              </a:lnSpc>
              <a:buNone/>
            </a:pPr>
            <a:r>
              <a:rPr lang="en-US" sz="1200" dirty="0">
                <a:solidFill>
                  <a:srgbClr val="272525"/>
                </a:solidFill>
                <a:latin typeface="Inter" pitchFamily="34" charset="0"/>
                <a:ea typeface="Inter" pitchFamily="34" charset="-122"/>
                <a:cs typeface="Inter" pitchFamily="34" charset="-120"/>
              </a:rPr>
              <a:t>The microgripper operates on the inverse piezoelectric effect. When a voltage is applied to the active PZT-5H actuator at the base, the material physically expands. Because this active "muscle" is bonded to a passive Polysilicon arm that does not expand, it creates uneven internal mechanical stress. This uneven expansion forces the entire cantilever structure to bend laterally. This precision bending provides the controlled microscopic force needed to grip delicate objects</a:t>
            </a:r>
            <a:endParaRPr lang="en-US" sz="1200" dirty="0"/>
          </a:p>
        </p:txBody>
      </p:sp>
      <p:sp>
        <p:nvSpPr>
          <p:cNvPr id="8" name="Text 4"/>
          <p:cNvSpPr/>
          <p:nvPr/>
        </p:nvSpPr>
        <p:spPr>
          <a:xfrm>
            <a:off x="1346671" y="3690714"/>
            <a:ext cx="7301210" cy="680442"/>
          </a:xfrm>
          <a:prstGeom prst="rect">
            <a:avLst/>
          </a:prstGeom>
          <a:noFill/>
          <a:ln/>
        </p:spPr>
        <p:txBody>
          <a:bodyPr wrap="square" lIns="0" tIns="0" rIns="0" bIns="0" rtlCol="0" anchor="t"/>
          <a:lstStyle/>
          <a:p>
            <a:pPr marL="0" indent="0" algn="l">
              <a:lnSpc>
                <a:spcPts val="1750"/>
              </a:lnSpc>
              <a:buNone/>
            </a:pPr>
            <a:r>
              <a:rPr lang="en-US" sz="1200" b="1" dirty="0">
                <a:solidFill>
                  <a:srgbClr val="272525"/>
                </a:solidFill>
                <a:latin typeface="Inter" pitchFamily="34" charset="0"/>
                <a:ea typeface="Inter" pitchFamily="34" charset="-122"/>
                <a:cs typeface="Inter" pitchFamily="34" charset="-120"/>
              </a:rPr>
              <a:t>ML Optimization:</a:t>
            </a:r>
            <a:r>
              <a:rPr lang="en-US" sz="1200" dirty="0">
                <a:solidFill>
                  <a:srgbClr val="272525"/>
                </a:solidFill>
                <a:latin typeface="Inter" pitchFamily="34" charset="0"/>
                <a:ea typeface="Inter" pitchFamily="34" charset="-122"/>
                <a:cs typeface="Inter" pitchFamily="34" charset="-120"/>
              </a:rPr>
              <a:t> While the inverse piezoelectric effect drives the physical bending, a Machine Learning model learns the non-linear relationship between Vin, geometry, and RFx to predict outcomes instantly without re-running simulations.</a:t>
            </a:r>
            <a:endParaRPr lang="en-US" sz="1200" dirty="0"/>
          </a:p>
        </p:txBody>
      </p:sp>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EEB6500-558E-5E1B-384F-6475A79CF970}"/>
                  </a:ext>
                </a:extLst>
              </p14:cNvPr>
              <p14:cNvContentPartPr/>
              <p14:nvPr/>
            </p14:nvContentPartPr>
            <p14:xfrm>
              <a:off x="7979290" y="4772798"/>
              <a:ext cx="987480" cy="227880"/>
            </p14:xfrm>
          </p:contentPart>
        </mc:Choice>
        <mc:Fallback xmlns="">
          <p:pic>
            <p:nvPicPr>
              <p:cNvPr id="9" name="Ink 8">
                <a:extLst>
                  <a:ext uri="{FF2B5EF4-FFF2-40B4-BE49-F238E27FC236}">
                    <a16:creationId xmlns:a16="http://schemas.microsoft.com/office/drawing/2014/main" id="{6EEB6500-558E-5E1B-384F-6475A79CF970}"/>
                  </a:ext>
                </a:extLst>
              </p:cNvPr>
              <p:cNvPicPr/>
              <p:nvPr/>
            </p:nvPicPr>
            <p:blipFill>
              <a:blip r:embed="rId6"/>
              <a:stretch>
                <a:fillRect/>
              </a:stretch>
            </p:blipFill>
            <p:spPr>
              <a:xfrm>
                <a:off x="7916290" y="4710158"/>
                <a:ext cx="111312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098A82E5-DF22-0F85-475E-B731371839C2}"/>
                  </a:ext>
                </a:extLst>
              </p14:cNvPr>
              <p14:cNvContentPartPr/>
              <p14:nvPr/>
            </p14:nvContentPartPr>
            <p14:xfrm>
              <a:off x="8197810" y="4881878"/>
              <a:ext cx="803880" cy="145440"/>
            </p14:xfrm>
          </p:contentPart>
        </mc:Choice>
        <mc:Fallback xmlns="">
          <p:pic>
            <p:nvPicPr>
              <p:cNvPr id="11" name="Ink 10">
                <a:extLst>
                  <a:ext uri="{FF2B5EF4-FFF2-40B4-BE49-F238E27FC236}">
                    <a16:creationId xmlns:a16="http://schemas.microsoft.com/office/drawing/2014/main" id="{098A82E5-DF22-0F85-475E-B731371839C2}"/>
                  </a:ext>
                </a:extLst>
              </p:cNvPr>
              <p:cNvPicPr/>
              <p:nvPr/>
            </p:nvPicPr>
            <p:blipFill>
              <a:blip r:embed="rId8"/>
              <a:stretch>
                <a:fillRect/>
              </a:stretch>
            </p:blipFill>
            <p:spPr>
              <a:xfrm>
                <a:off x="8135170" y="4819238"/>
                <a:ext cx="929520" cy="27108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754832"/>
            <a:ext cx="6220569" cy="442987"/>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Introduction and Problems to Tackle</a:t>
            </a:r>
            <a:endParaRPr lang="en-US" sz="2750" dirty="0"/>
          </a:p>
        </p:txBody>
      </p:sp>
      <p:sp>
        <p:nvSpPr>
          <p:cNvPr id="3" name="Text 1"/>
          <p:cNvSpPr/>
          <p:nvPr/>
        </p:nvSpPr>
        <p:spPr>
          <a:xfrm>
            <a:off x="496119" y="2481337"/>
            <a:ext cx="8151763" cy="907256"/>
          </a:xfrm>
          <a:prstGeom prst="rect">
            <a:avLst/>
          </a:prstGeom>
          <a:noFill/>
          <a:ln/>
        </p:spPr>
        <p:txBody>
          <a:bodyPr wrap="square" lIns="0" tIns="0" rIns="0" bIns="0" rtlCol="0" anchor="t"/>
          <a:lstStyle/>
          <a:p>
            <a:pPr marL="0" indent="0" algn="l">
              <a:lnSpc>
                <a:spcPts val="1750"/>
              </a:lnSpc>
              <a:buNone/>
            </a:pPr>
            <a:r>
              <a:rPr lang="en-US" sz="1600" dirty="0">
                <a:solidFill>
                  <a:srgbClr val="272525"/>
                </a:solidFill>
                <a:latin typeface="Inter" pitchFamily="34" charset="0"/>
                <a:ea typeface="Inter" pitchFamily="34" charset="-122"/>
                <a:cs typeface="Inter" pitchFamily="34" charset="-120"/>
              </a:rPr>
              <a:t>The project aims to develop a predictive system for estimating the gripping force of a piezoelectric microgripper by using simulation data generated from COMSOL Multiphysics. The finalized system utilizes a </a:t>
            </a:r>
            <a:r>
              <a:rPr lang="en-US" sz="1600" b="1" dirty="0">
                <a:solidFill>
                  <a:srgbClr val="272525"/>
                </a:solidFill>
                <a:latin typeface="Inter" pitchFamily="34" charset="0"/>
                <a:ea typeface="Inter" pitchFamily="34" charset="-122"/>
                <a:cs typeface="Inter" pitchFamily="34" charset="-120"/>
              </a:rPr>
              <a:t>Random Forest regressor model</a:t>
            </a:r>
            <a:r>
              <a:rPr lang="en-US" sz="1600" dirty="0">
                <a:solidFill>
                  <a:srgbClr val="272525"/>
                </a:solidFill>
                <a:latin typeface="Inter" pitchFamily="34" charset="0"/>
                <a:ea typeface="Inter" pitchFamily="34" charset="-122"/>
                <a:cs typeface="Inter" pitchFamily="34" charset="-120"/>
              </a:rPr>
              <a:t> to map thousands of parametric combinations. This solves the primary bottleneck of </a:t>
            </a:r>
            <a:r>
              <a:rPr lang="en-US" sz="1600" b="1" dirty="0">
                <a:solidFill>
                  <a:srgbClr val="272525"/>
                </a:solidFill>
                <a:latin typeface="Inter" pitchFamily="34" charset="0"/>
                <a:ea typeface="Inter" pitchFamily="34" charset="-122"/>
                <a:cs typeface="Inter" pitchFamily="34" charset="-120"/>
              </a:rPr>
              <a:t>15-minute COMSOL solve times</a:t>
            </a:r>
            <a:r>
              <a:rPr lang="en-US" sz="1600" dirty="0">
                <a:solidFill>
                  <a:srgbClr val="272525"/>
                </a:solidFill>
                <a:latin typeface="Inter" pitchFamily="34" charset="0"/>
                <a:ea typeface="Inter" pitchFamily="34" charset="-122"/>
                <a:cs typeface="Inter" pitchFamily="34" charset="-120"/>
              </a:rPr>
              <a:t>, enabling instant, noise-resilient force prediction for Micro-Opto-Electronic Assembly.</a:t>
            </a:r>
            <a:endParaRPr lang="en-US" sz="1600"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8791B560-8CE7-CBC5-1622-936FE2388709}"/>
                  </a:ext>
                </a:extLst>
              </p14:cNvPr>
              <p14:cNvContentPartPr/>
              <p14:nvPr/>
            </p14:nvContentPartPr>
            <p14:xfrm>
              <a:off x="8080090" y="4934798"/>
              <a:ext cx="999000" cy="26640"/>
            </p14:xfrm>
          </p:contentPart>
        </mc:Choice>
        <mc:Fallback xmlns="">
          <p:pic>
            <p:nvPicPr>
              <p:cNvPr id="6" name="Ink 5">
                <a:extLst>
                  <a:ext uri="{FF2B5EF4-FFF2-40B4-BE49-F238E27FC236}">
                    <a16:creationId xmlns:a16="http://schemas.microsoft.com/office/drawing/2014/main" id="{8791B560-8CE7-CBC5-1622-936FE2388709}"/>
                  </a:ext>
                </a:extLst>
              </p:cNvPr>
              <p:cNvPicPr/>
              <p:nvPr/>
            </p:nvPicPr>
            <p:blipFill>
              <a:blip r:embed="rId4"/>
              <a:stretch>
                <a:fillRect/>
              </a:stretch>
            </p:blipFill>
            <p:spPr>
              <a:xfrm>
                <a:off x="8017090" y="4871798"/>
                <a:ext cx="11246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6298AD81-2F4C-7078-CA6B-71CA08A13255}"/>
                  </a:ext>
                </a:extLst>
              </p14:cNvPr>
              <p14:cNvContentPartPr/>
              <p14:nvPr/>
            </p14:nvContentPartPr>
            <p14:xfrm>
              <a:off x="8024650" y="5006078"/>
              <a:ext cx="1022400" cy="13680"/>
            </p14:xfrm>
          </p:contentPart>
        </mc:Choice>
        <mc:Fallback xmlns="">
          <p:pic>
            <p:nvPicPr>
              <p:cNvPr id="7" name="Ink 6">
                <a:extLst>
                  <a:ext uri="{FF2B5EF4-FFF2-40B4-BE49-F238E27FC236}">
                    <a16:creationId xmlns:a16="http://schemas.microsoft.com/office/drawing/2014/main" id="{6298AD81-2F4C-7078-CA6B-71CA08A13255}"/>
                  </a:ext>
                </a:extLst>
              </p:cNvPr>
              <p:cNvPicPr/>
              <p:nvPr/>
            </p:nvPicPr>
            <p:blipFill>
              <a:blip r:embed="rId6"/>
              <a:stretch>
                <a:fillRect/>
              </a:stretch>
            </p:blipFill>
            <p:spPr>
              <a:xfrm>
                <a:off x="7962010" y="4943078"/>
                <a:ext cx="11480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4BB98179-BD9C-9712-423A-40060FBAB9F4}"/>
                  </a:ext>
                </a:extLst>
              </p14:cNvPr>
              <p14:cNvContentPartPr/>
              <p14:nvPr/>
            </p14:nvContentPartPr>
            <p14:xfrm>
              <a:off x="8378890" y="4824649"/>
              <a:ext cx="596880" cy="78120"/>
            </p14:xfrm>
          </p:contentPart>
        </mc:Choice>
        <mc:Fallback xmlns="">
          <p:pic>
            <p:nvPicPr>
              <p:cNvPr id="9" name="Ink 8">
                <a:extLst>
                  <a:ext uri="{FF2B5EF4-FFF2-40B4-BE49-F238E27FC236}">
                    <a16:creationId xmlns:a16="http://schemas.microsoft.com/office/drawing/2014/main" id="{4BB98179-BD9C-9712-423A-40060FBAB9F4}"/>
                  </a:ext>
                </a:extLst>
              </p:cNvPr>
              <p:cNvPicPr/>
              <p:nvPr/>
            </p:nvPicPr>
            <p:blipFill>
              <a:blip r:embed="rId8"/>
              <a:stretch>
                <a:fillRect/>
              </a:stretch>
            </p:blipFill>
            <p:spPr>
              <a:xfrm>
                <a:off x="8315890" y="4761649"/>
                <a:ext cx="7225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DAFD8086-03FA-1D8C-D8E2-0D4F843AC400}"/>
                  </a:ext>
                </a:extLst>
              </p14:cNvPr>
              <p14:cNvContentPartPr/>
              <p14:nvPr/>
            </p14:nvContentPartPr>
            <p14:xfrm>
              <a:off x="8884690" y="4999969"/>
              <a:ext cx="91080" cy="12960"/>
            </p14:xfrm>
          </p:contentPart>
        </mc:Choice>
        <mc:Fallback xmlns="">
          <p:pic>
            <p:nvPicPr>
              <p:cNvPr id="11" name="Ink 10">
                <a:extLst>
                  <a:ext uri="{FF2B5EF4-FFF2-40B4-BE49-F238E27FC236}">
                    <a16:creationId xmlns:a16="http://schemas.microsoft.com/office/drawing/2014/main" id="{DAFD8086-03FA-1D8C-D8E2-0D4F843AC400}"/>
                  </a:ext>
                </a:extLst>
              </p:cNvPr>
              <p:cNvPicPr/>
              <p:nvPr/>
            </p:nvPicPr>
            <p:blipFill>
              <a:blip r:embed="rId10"/>
              <a:stretch>
                <a:fillRect/>
              </a:stretch>
            </p:blipFill>
            <p:spPr>
              <a:xfrm>
                <a:off x="8821690" y="4936969"/>
                <a:ext cx="2167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B7DB251D-BACD-5F0F-A442-CA2024274F16}"/>
                  </a:ext>
                </a:extLst>
              </p14:cNvPr>
              <p14:cNvContentPartPr/>
              <p14:nvPr/>
            </p14:nvContentPartPr>
            <p14:xfrm>
              <a:off x="8883610" y="5045329"/>
              <a:ext cx="111240" cy="16920"/>
            </p14:xfrm>
          </p:contentPart>
        </mc:Choice>
        <mc:Fallback xmlns="">
          <p:pic>
            <p:nvPicPr>
              <p:cNvPr id="12" name="Ink 11">
                <a:extLst>
                  <a:ext uri="{FF2B5EF4-FFF2-40B4-BE49-F238E27FC236}">
                    <a16:creationId xmlns:a16="http://schemas.microsoft.com/office/drawing/2014/main" id="{B7DB251D-BACD-5F0F-A442-CA2024274F16}"/>
                  </a:ext>
                </a:extLst>
              </p:cNvPr>
              <p:cNvPicPr/>
              <p:nvPr/>
            </p:nvPicPr>
            <p:blipFill>
              <a:blip r:embed="rId12"/>
              <a:stretch>
                <a:fillRect/>
              </a:stretch>
            </p:blipFill>
            <p:spPr>
              <a:xfrm>
                <a:off x="8820970" y="4982329"/>
                <a:ext cx="236880" cy="14256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775856" y="143123"/>
            <a:ext cx="3492883" cy="408607"/>
          </a:xfrm>
          <a:prstGeom prst="rect">
            <a:avLst/>
          </a:prstGeom>
          <a:noFill/>
          <a:ln/>
        </p:spPr>
        <p:txBody>
          <a:bodyPr wrap="none" lIns="0" tIns="0" rIns="0" bIns="0" rtlCol="0" anchor="t"/>
          <a:lstStyle/>
          <a:p>
            <a:pPr marL="0" indent="0" algn="ctr">
              <a:lnSpc>
                <a:spcPts val="2300"/>
              </a:lnSpc>
              <a:buNone/>
            </a:pPr>
            <a:r>
              <a:rPr lang="en-US" sz="3200" b="1" dirty="0">
                <a:solidFill>
                  <a:srgbClr val="000000"/>
                </a:solidFill>
                <a:latin typeface="Inter Bold" pitchFamily="34" charset="0"/>
                <a:ea typeface="Inter Bold" pitchFamily="34" charset="-122"/>
                <a:cs typeface="Inter Bold" pitchFamily="34" charset="-120"/>
              </a:rPr>
              <a:t>Literature Survey Summary</a:t>
            </a:r>
            <a:endParaRPr lang="en-US" sz="3200" dirty="0"/>
          </a:p>
        </p:txBody>
      </p:sp>
      <p:sp>
        <p:nvSpPr>
          <p:cNvPr id="53" name="Rectangle 52">
            <a:extLst>
              <a:ext uri="{FF2B5EF4-FFF2-40B4-BE49-F238E27FC236}">
                <a16:creationId xmlns:a16="http://schemas.microsoft.com/office/drawing/2014/main" id="{D295C639-820F-0FA4-040C-2F166DB7B76F}"/>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bg1"/>
              </a:solidFill>
            </a:endParaRPr>
          </a:p>
        </p:txBody>
      </p:sp>
      <p:graphicFrame>
        <p:nvGraphicFramePr>
          <p:cNvPr id="54" name="Table 53">
            <a:extLst>
              <a:ext uri="{FF2B5EF4-FFF2-40B4-BE49-F238E27FC236}">
                <a16:creationId xmlns:a16="http://schemas.microsoft.com/office/drawing/2014/main" id="{A50ED05F-A6F9-FD02-29F0-7FF7817F04C8}"/>
              </a:ext>
            </a:extLst>
          </p:cNvPr>
          <p:cNvGraphicFramePr>
            <a:graphicFrameLocks noGrp="1"/>
          </p:cNvGraphicFramePr>
          <p:nvPr>
            <p:extLst>
              <p:ext uri="{D42A27DB-BD31-4B8C-83A1-F6EECF244321}">
                <p14:modId xmlns:p14="http://schemas.microsoft.com/office/powerpoint/2010/main" val="3256194550"/>
              </p:ext>
            </p:extLst>
          </p:nvPr>
        </p:nvGraphicFramePr>
        <p:xfrm>
          <a:off x="227881" y="509598"/>
          <a:ext cx="8588832" cy="4617398"/>
        </p:xfrm>
        <a:graphic>
          <a:graphicData uri="http://schemas.openxmlformats.org/drawingml/2006/table">
            <a:tbl>
              <a:tblPr/>
              <a:tblGrid>
                <a:gridCol w="1226976">
                  <a:extLst>
                    <a:ext uri="{9D8B030D-6E8A-4147-A177-3AD203B41FA5}">
                      <a16:colId xmlns:a16="http://schemas.microsoft.com/office/drawing/2014/main" val="81232080"/>
                    </a:ext>
                  </a:extLst>
                </a:gridCol>
                <a:gridCol w="1226976">
                  <a:extLst>
                    <a:ext uri="{9D8B030D-6E8A-4147-A177-3AD203B41FA5}">
                      <a16:colId xmlns:a16="http://schemas.microsoft.com/office/drawing/2014/main" val="866664612"/>
                    </a:ext>
                  </a:extLst>
                </a:gridCol>
                <a:gridCol w="1226976">
                  <a:extLst>
                    <a:ext uri="{9D8B030D-6E8A-4147-A177-3AD203B41FA5}">
                      <a16:colId xmlns:a16="http://schemas.microsoft.com/office/drawing/2014/main" val="1030399138"/>
                    </a:ext>
                  </a:extLst>
                </a:gridCol>
                <a:gridCol w="1226976">
                  <a:extLst>
                    <a:ext uri="{9D8B030D-6E8A-4147-A177-3AD203B41FA5}">
                      <a16:colId xmlns:a16="http://schemas.microsoft.com/office/drawing/2014/main" val="565718303"/>
                    </a:ext>
                  </a:extLst>
                </a:gridCol>
                <a:gridCol w="1226976">
                  <a:extLst>
                    <a:ext uri="{9D8B030D-6E8A-4147-A177-3AD203B41FA5}">
                      <a16:colId xmlns:a16="http://schemas.microsoft.com/office/drawing/2014/main" val="2821342040"/>
                    </a:ext>
                  </a:extLst>
                </a:gridCol>
                <a:gridCol w="1226976">
                  <a:extLst>
                    <a:ext uri="{9D8B030D-6E8A-4147-A177-3AD203B41FA5}">
                      <a16:colId xmlns:a16="http://schemas.microsoft.com/office/drawing/2014/main" val="1337184581"/>
                    </a:ext>
                  </a:extLst>
                </a:gridCol>
                <a:gridCol w="1226976">
                  <a:extLst>
                    <a:ext uri="{9D8B030D-6E8A-4147-A177-3AD203B41FA5}">
                      <a16:colId xmlns:a16="http://schemas.microsoft.com/office/drawing/2014/main" val="965077209"/>
                    </a:ext>
                  </a:extLst>
                </a:gridCol>
              </a:tblGrid>
              <a:tr h="293058">
                <a:tc>
                  <a:txBody>
                    <a:bodyPr/>
                    <a:lstStyle/>
                    <a:p>
                      <a:pPr rtl="0">
                        <a:buNone/>
                      </a:pPr>
                      <a:r>
                        <a:rPr lang="en-IN" sz="1000" b="1" dirty="0">
                          <a:solidFill>
                            <a:srgbClr val="1F1F1F"/>
                          </a:solidFill>
                          <a:effectLst/>
                          <a:latin typeface="Google Sans Text"/>
                        </a:rPr>
                        <a:t>Journal</a:t>
                      </a:r>
                      <a:endParaRPr lang="en-IN" sz="1000" dirty="0">
                        <a:solidFill>
                          <a:srgbClr val="1F1F1F"/>
                        </a:solidFill>
                        <a:effectLst/>
                        <a:latin typeface="Google Sans Text"/>
                      </a:endParaRP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Material</a:t>
                      </a:r>
                      <a:endParaRPr lang="en-IN" sz="1000">
                        <a:solidFill>
                          <a:srgbClr val="1F1F1F"/>
                        </a:solidFill>
                        <a:effectLst/>
                        <a:latin typeface="Google Sans Text"/>
                      </a:endParaRP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Method</a:t>
                      </a:r>
                      <a:endParaRPr lang="en-IN" sz="1000">
                        <a:solidFill>
                          <a:srgbClr val="1F1F1F"/>
                        </a:solidFill>
                        <a:effectLst/>
                        <a:latin typeface="Google Sans Text"/>
                      </a:endParaRP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dirty="0">
                          <a:solidFill>
                            <a:srgbClr val="1F1F1F"/>
                          </a:solidFill>
                          <a:effectLst/>
                          <a:latin typeface="Google Sans Text"/>
                        </a:rPr>
                        <a:t>Simulation results</a:t>
                      </a:r>
                      <a:endParaRPr lang="en-IN" sz="1000" dirty="0">
                        <a:solidFill>
                          <a:srgbClr val="1F1F1F"/>
                        </a:solidFill>
                        <a:effectLst/>
                        <a:latin typeface="Google Sans Text"/>
                      </a:endParaRP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Characteristics output</a:t>
                      </a:r>
                      <a:endParaRPr lang="en-IN" sz="1000">
                        <a:solidFill>
                          <a:srgbClr val="1F1F1F"/>
                        </a:solidFill>
                        <a:effectLst/>
                        <a:latin typeface="Google Sans Text"/>
                      </a:endParaRP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Application</a:t>
                      </a:r>
                      <a:endParaRPr lang="en-IN" sz="1000">
                        <a:solidFill>
                          <a:srgbClr val="1F1F1F"/>
                        </a:solidFill>
                        <a:effectLst/>
                        <a:latin typeface="Google Sans Text"/>
                      </a:endParaRP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Analysis</a:t>
                      </a:r>
                      <a:endParaRPr lang="en-IN" sz="1000">
                        <a:solidFill>
                          <a:srgbClr val="1F1F1F"/>
                        </a:solidFill>
                        <a:effectLst/>
                        <a:latin typeface="Google Sans Text"/>
                      </a:endParaRP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63671665"/>
                  </a:ext>
                </a:extLst>
              </a:tr>
              <a:tr h="888004">
                <a:tc>
                  <a:txBody>
                    <a:bodyPr/>
                    <a:lstStyle/>
                    <a:p>
                      <a:pPr rtl="0">
                        <a:buNone/>
                      </a:pPr>
                      <a:r>
                        <a:rPr lang="en-IN" sz="1000" b="1" dirty="0">
                          <a:solidFill>
                            <a:srgbClr val="1F1F1F"/>
                          </a:solidFill>
                          <a:effectLst/>
                          <a:latin typeface="Google Sans Text"/>
                        </a:rPr>
                        <a:t>Bachar Mourched et al.</a:t>
                      </a:r>
                      <a:r>
                        <a:rPr lang="en-IN" sz="1000" dirty="0">
                          <a:solidFill>
                            <a:srgbClr val="1F1F1F"/>
                          </a:solidFill>
                          <a:effectLst/>
                          <a:latin typeface="Google Sans Text"/>
                        </a:rPr>
                        <a:t> Appl. Sci., 12 (2022): 9798. [1]</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PZT-5H sensors, wood structure</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COMSOL Multiphysics; coupling solid mechanics and electrostatics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Voltage peaks at sensors closest to applied load; voltage scales directly with mass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dirty="0">
                          <a:solidFill>
                            <a:srgbClr val="1F1F1F"/>
                          </a:solidFill>
                          <a:effectLst/>
                          <a:latin typeface="Google Sans Text"/>
                        </a:rPr>
                        <a:t>Generates vast voltage data matrices for ML training</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IoT vehicle speed/mass prediction, smart sensors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Simulating data drastically reduces real-world collection time and costs; voltage is highly position-dependent</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57967544"/>
                  </a:ext>
                </a:extLst>
              </a:tr>
              <a:tr h="746059">
                <a:tc>
                  <a:txBody>
                    <a:bodyPr/>
                    <a:lstStyle/>
                    <a:p>
                      <a:pPr rtl="0">
                        <a:buNone/>
                      </a:pPr>
                      <a:r>
                        <a:rPr lang="en-IN" sz="1000" b="1" dirty="0" err="1">
                          <a:solidFill>
                            <a:srgbClr val="1F1F1F"/>
                          </a:solidFill>
                          <a:effectLst/>
                          <a:latin typeface="Google Sans Text"/>
                        </a:rPr>
                        <a:t>Simmerdeep</a:t>
                      </a:r>
                      <a:r>
                        <a:rPr lang="en-IN" sz="1000" b="1" dirty="0">
                          <a:solidFill>
                            <a:srgbClr val="1F1F1F"/>
                          </a:solidFill>
                          <a:effectLst/>
                          <a:latin typeface="Google Sans Text"/>
                        </a:rPr>
                        <a:t> Kaur et al. Microelectronics &amp; Solid State Electronics, 2 (2013): 39-44. [2]</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dirty="0">
                          <a:solidFill>
                            <a:srgbClr val="1F1F1F"/>
                          </a:solidFill>
                          <a:effectLst/>
                          <a:latin typeface="Google Sans Text"/>
                        </a:rPr>
                        <a:t>Actuators: PZT-5A, Bismuth germanate, Barium titanate. Arms: Polysilicon</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b="1" dirty="0">
                          <a:solidFill>
                            <a:srgbClr val="1F1F1F"/>
                          </a:solidFill>
                          <a:effectLst/>
                          <a:latin typeface="Google Sans Text"/>
                        </a:rPr>
                        <a:t>Structural modeling; compared COMSOL vs. MATLAB</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b="1" dirty="0">
                          <a:solidFill>
                            <a:srgbClr val="1F1F1F"/>
                          </a:solidFill>
                          <a:effectLst/>
                          <a:latin typeface="Google Sans Text"/>
                        </a:rPr>
                        <a:t>PZT-5A requires the lowest gripping voltage at 250 μV</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b="1" dirty="0">
                          <a:solidFill>
                            <a:srgbClr val="1F1F1F"/>
                          </a:solidFill>
                          <a:effectLst/>
                          <a:latin typeface="Google Sans Text"/>
                        </a:rPr>
                        <a:t>Design amplifies piezo actuator displacement up to 100x</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dirty="0">
                          <a:solidFill>
                            <a:srgbClr val="1F1F1F"/>
                          </a:solidFill>
                          <a:effectLst/>
                          <a:latin typeface="Google Sans Text"/>
                        </a:rPr>
                        <a:t>Handling micro/nano objects, micro assembly</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b="1" dirty="0">
                          <a:solidFill>
                            <a:srgbClr val="1F1F1F"/>
                          </a:solidFill>
                          <a:effectLst/>
                          <a:latin typeface="Google Sans Text"/>
                        </a:rPr>
                        <a:t>Parallel arm movement prevents object sliding; PZT-5A preferred for efficiency and safety</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99314451"/>
                  </a:ext>
                </a:extLst>
              </a:tr>
              <a:tr h="888004">
                <a:tc>
                  <a:txBody>
                    <a:bodyPr/>
                    <a:lstStyle/>
                    <a:p>
                      <a:pPr rtl="0">
                        <a:buNone/>
                      </a:pPr>
                      <a:r>
                        <a:rPr lang="nl-NL" sz="1000" b="1">
                          <a:solidFill>
                            <a:srgbClr val="1F1F1F"/>
                          </a:solidFill>
                          <a:effectLst/>
                          <a:latin typeface="Google Sans Text"/>
                        </a:rPr>
                        <a:t>Ritu Verma et al.</a:t>
                      </a:r>
                      <a:r>
                        <a:rPr lang="nl-NL" sz="1000">
                          <a:solidFill>
                            <a:srgbClr val="1F1F1F"/>
                          </a:solidFill>
                          <a:effectLst/>
                          <a:latin typeface="Google Sans Text"/>
                        </a:rPr>
                        <a:t> IJECT, 7 (2016). [3]</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it-IT" sz="1000">
                          <a:solidFill>
                            <a:srgbClr val="1F1F1F"/>
                          </a:solidFill>
                          <a:effectLst/>
                          <a:latin typeface="Google Sans Text"/>
                        </a:rPr>
                        <a:t>Lead Zirconate Titanate (PZT), Polycrystalline Silicon (poly-Si)</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COMSOL Multiphysics; parametric analysis of varying actuator heights and widths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Maximum jaw displacement of 1.30 μm at 2400 V</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Bottleneck shape successfully amplifies displacement efficiently</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Micro-object manipulation and handling miniature parts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Displacement is a direct function of actuator height and width; modifying dimensions optimizes performance</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9727777"/>
                  </a:ext>
                </a:extLst>
              </a:tr>
              <a:tr h="746059">
                <a:tc>
                  <a:txBody>
                    <a:bodyPr/>
                    <a:lstStyle/>
                    <a:p>
                      <a:pPr rtl="0">
                        <a:buNone/>
                      </a:pPr>
                      <a:r>
                        <a:rPr lang="fr-FR" sz="1000" b="1">
                          <a:solidFill>
                            <a:srgbClr val="1F1F1F"/>
                          </a:solidFill>
                          <a:effectLst/>
                          <a:latin typeface="Google Sans Text"/>
                        </a:rPr>
                        <a:t>A. Author et al.</a:t>
                      </a:r>
                      <a:r>
                        <a:rPr lang="fr-FR" sz="1000">
                          <a:solidFill>
                            <a:srgbClr val="1F1F1F"/>
                          </a:solidFill>
                          <a:effectLst/>
                          <a:latin typeface="Google Sans Text"/>
                        </a:rPr>
                        <a:t> Micromachines, 13 (2022): 1888. [4]</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Piezoelectric material</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FEM simulation using COMSOL; deformable structure with 16 straight beams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Successfully generated arbitrary 2D trajectories (e.g., star, cardioid) driven by voltage</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Deformability of the structure precisely controls the trajectory and grip path</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Medical applications, micropositioning, biological cell manipulation</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Actuator dimensions (beam thickness and length) significantly impact the trajectory and range of motion</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94167312"/>
                  </a:ext>
                </a:extLst>
              </a:tr>
              <a:tr h="815492">
                <a:tc>
                  <a:txBody>
                    <a:bodyPr/>
                    <a:lstStyle/>
                    <a:p>
                      <a:pPr rtl="0">
                        <a:buNone/>
                      </a:pPr>
                      <a:r>
                        <a:rPr lang="en-US" sz="1000" b="1">
                          <a:solidFill>
                            <a:srgbClr val="1F1F1F"/>
                          </a:solidFill>
                          <a:effectLst/>
                          <a:latin typeface="Google Sans Text"/>
                        </a:rPr>
                        <a:t>A. Author et al.</a:t>
                      </a:r>
                      <a:r>
                        <a:rPr lang="en-US" sz="1000">
                          <a:solidFill>
                            <a:srgbClr val="1F1F1F"/>
                          </a:solidFill>
                          <a:effectLst/>
                          <a:latin typeface="Google Sans Text"/>
                        </a:rPr>
                        <a:t> ResearchGate, (2016). [5]</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Silicon / Piezoelectric stack</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Structural mechanics simulation using COMSOL Multiphysics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Gripping range of approximately 85 μm achieved under a low source voltage</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a:solidFill>
                            <a:srgbClr val="1F1F1F"/>
                          </a:solidFill>
                          <a:effectLst/>
                          <a:latin typeface="Google Sans Text"/>
                        </a:rPr>
                        <a:t>Integrated electrostatic force sensor used to measure applied gripping force</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Microbiological species handling, delicate micro-assembly</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000" dirty="0">
                          <a:solidFill>
                            <a:srgbClr val="1F1F1F"/>
                          </a:solidFill>
                          <a:effectLst/>
                          <a:latin typeface="Google Sans Text"/>
                        </a:rPr>
                        <a:t>Integrated force sensing ensures sensitive micro-objects are not crushed during the gripping process</a:t>
                      </a:r>
                    </a:p>
                  </a:txBody>
                  <a:tcPr marL="14629" marR="14629" marT="19506" marB="19506"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070004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958228" y="153962"/>
            <a:ext cx="4123655" cy="297656"/>
          </a:xfrm>
          <a:prstGeom prst="rect">
            <a:avLst/>
          </a:prstGeom>
          <a:noFill/>
          <a:ln/>
        </p:spPr>
        <p:txBody>
          <a:bodyPr wrap="none" lIns="0" tIns="0" rIns="0" bIns="0" rtlCol="0" anchor="t"/>
          <a:lstStyle/>
          <a:p>
            <a:pPr marL="0" indent="0" algn="l">
              <a:lnSpc>
                <a:spcPts val="2300"/>
              </a:lnSpc>
              <a:buNone/>
            </a:pPr>
            <a:r>
              <a:rPr lang="en-US" sz="2400" b="1" dirty="0">
                <a:solidFill>
                  <a:srgbClr val="000000"/>
                </a:solidFill>
                <a:latin typeface="Inter Bold" pitchFamily="34" charset="0"/>
                <a:ea typeface="Inter Bold" pitchFamily="34" charset="-122"/>
                <a:cs typeface="Inter Bold" pitchFamily="34" charset="-120"/>
              </a:rPr>
              <a:t>Methodology of the Proposed Work</a:t>
            </a:r>
            <a:endParaRPr lang="en-US" sz="2400" dirty="0"/>
          </a:p>
        </p:txBody>
      </p:sp>
      <p:sp>
        <p:nvSpPr>
          <p:cNvPr id="3" name="Text 1"/>
          <p:cNvSpPr/>
          <p:nvPr/>
        </p:nvSpPr>
        <p:spPr>
          <a:xfrm>
            <a:off x="230281" y="619124"/>
            <a:ext cx="6572250" cy="127397"/>
          </a:xfrm>
          <a:prstGeom prst="rect">
            <a:avLst/>
          </a:prstGeom>
          <a:noFill/>
          <a:ln/>
        </p:spPr>
        <p:txBody>
          <a:bodyPr wrap="none" lIns="0" tIns="0" rIns="0" bIns="0" rtlCol="0" anchor="t"/>
          <a:lstStyle/>
          <a:p>
            <a:pPr marL="0" indent="0" algn="l">
              <a:lnSpc>
                <a:spcPts val="1000"/>
              </a:lnSpc>
              <a:buNone/>
            </a:pPr>
            <a:r>
              <a:rPr lang="en-US" sz="1200" dirty="0">
                <a:solidFill>
                  <a:srgbClr val="272525"/>
                </a:solidFill>
                <a:latin typeface="Inter" pitchFamily="34" charset="0"/>
                <a:ea typeface="Inter" pitchFamily="34" charset="-122"/>
                <a:cs typeface="Inter" pitchFamily="34" charset="-120"/>
              </a:rPr>
              <a:t>The methodology for simulating the microgripper in COMSOL Multiphysics involved these key phases:</a:t>
            </a:r>
            <a:endParaRPr lang="en-US" sz="1200" dirty="0"/>
          </a:p>
        </p:txBody>
      </p:sp>
      <p:sp>
        <p:nvSpPr>
          <p:cNvPr id="4" name="Text 2"/>
          <p:cNvSpPr/>
          <p:nvPr/>
        </p:nvSpPr>
        <p:spPr>
          <a:xfrm>
            <a:off x="230281" y="912146"/>
            <a:ext cx="6572250" cy="159246"/>
          </a:xfrm>
          <a:prstGeom prst="rect">
            <a:avLst/>
          </a:prstGeom>
          <a:noFill/>
          <a:ln/>
        </p:spPr>
        <p:txBody>
          <a:bodyPr wrap="none" lIns="0" tIns="0" rIns="0" bIns="0" rtlCol="0" anchor="t"/>
          <a:lstStyle/>
          <a:p>
            <a:pPr marL="0" indent="0" algn="l">
              <a:lnSpc>
                <a:spcPts val="1250"/>
              </a:lnSpc>
              <a:buNone/>
            </a:pPr>
            <a:r>
              <a:rPr lang="en-US" sz="1600" b="1" dirty="0">
                <a:solidFill>
                  <a:srgbClr val="272525"/>
                </a:solidFill>
                <a:latin typeface="Inter" pitchFamily="34" charset="0"/>
                <a:ea typeface="Inter" pitchFamily="34" charset="-122"/>
                <a:cs typeface="Inter" pitchFamily="34" charset="-120"/>
              </a:rPr>
              <a:t>Dual-Arm FEA Design &amp; Physics </a:t>
            </a:r>
            <a:endParaRPr lang="en-US" sz="1600" dirty="0"/>
          </a:p>
        </p:txBody>
      </p:sp>
      <p:sp>
        <p:nvSpPr>
          <p:cNvPr id="5" name="Text 3"/>
          <p:cNvSpPr/>
          <p:nvPr/>
        </p:nvSpPr>
        <p:spPr>
          <a:xfrm>
            <a:off x="230281" y="1193601"/>
            <a:ext cx="6572250" cy="127397"/>
          </a:xfrm>
          <a:prstGeom prst="rect">
            <a:avLst/>
          </a:prstGeom>
          <a:noFill/>
          <a:ln/>
        </p:spPr>
        <p:txBody>
          <a:bodyPr wrap="none" lIns="0" tIns="0" rIns="0" bIns="0" rtlCol="0" anchor="t"/>
          <a:lstStyle/>
          <a:p>
            <a:pPr marL="0" indent="0" algn="l">
              <a:lnSpc>
                <a:spcPts val="1000"/>
              </a:lnSpc>
              <a:buNone/>
            </a:pPr>
            <a:r>
              <a:rPr lang="en-US" sz="1200" b="1" dirty="0">
                <a:solidFill>
                  <a:srgbClr val="272525"/>
                </a:solidFill>
                <a:latin typeface="Inter" pitchFamily="34" charset="0"/>
                <a:ea typeface="Inter" pitchFamily="34" charset="-122"/>
                <a:cs typeface="Inter" pitchFamily="34" charset="-120"/>
              </a:rPr>
              <a:t>Symmetric Geometry:</a:t>
            </a:r>
            <a:r>
              <a:rPr lang="en-US" sz="1200" dirty="0">
                <a:solidFill>
                  <a:srgbClr val="272525"/>
                </a:solidFill>
                <a:latin typeface="Inter" pitchFamily="34" charset="0"/>
                <a:ea typeface="Inter" pitchFamily="34" charset="-122"/>
                <a:cs typeface="Inter" pitchFamily="34" charset="-120"/>
              </a:rPr>
              <a:t> A 3D dual-arm model was developed in COMSOL, featuring two identical cantilevers</a:t>
            </a:r>
          </a:p>
          <a:p>
            <a:pPr marL="0" indent="0" algn="l">
              <a:lnSpc>
                <a:spcPts val="1000"/>
              </a:lnSpc>
              <a:buNone/>
            </a:pPr>
            <a:r>
              <a:rPr lang="en-US" sz="1200" dirty="0">
                <a:solidFill>
                  <a:srgbClr val="272525"/>
                </a:solidFill>
                <a:latin typeface="Inter" pitchFamily="34" charset="0"/>
                <a:ea typeface="Inter" pitchFamily="34" charset="-122"/>
                <a:cs typeface="Inter" pitchFamily="34" charset="-120"/>
              </a:rPr>
              <a:t> </a:t>
            </a:r>
          </a:p>
          <a:p>
            <a:pPr marL="0" indent="0" algn="l">
              <a:lnSpc>
                <a:spcPts val="1000"/>
              </a:lnSpc>
              <a:buNone/>
            </a:pPr>
            <a:r>
              <a:rPr lang="en-US" sz="1200" dirty="0">
                <a:solidFill>
                  <a:srgbClr val="272525"/>
                </a:solidFill>
                <a:latin typeface="Inter" pitchFamily="34" charset="0"/>
                <a:ea typeface="Inter" pitchFamily="34" charset="-122"/>
                <a:cs typeface="Inter" pitchFamily="34" charset="-120"/>
              </a:rPr>
              <a:t>for synchronized micro-gripping.</a:t>
            </a:r>
            <a:endParaRPr lang="en-US" sz="1200" dirty="0"/>
          </a:p>
        </p:txBody>
      </p:sp>
      <p:sp>
        <p:nvSpPr>
          <p:cNvPr id="6" name="Text 4"/>
          <p:cNvSpPr/>
          <p:nvPr/>
        </p:nvSpPr>
        <p:spPr>
          <a:xfrm>
            <a:off x="230281" y="1736087"/>
            <a:ext cx="6572250" cy="127397"/>
          </a:xfrm>
          <a:prstGeom prst="rect">
            <a:avLst/>
          </a:prstGeom>
          <a:noFill/>
          <a:ln/>
        </p:spPr>
        <p:txBody>
          <a:bodyPr wrap="none" lIns="0" tIns="0" rIns="0" bIns="0" rtlCol="0" anchor="t"/>
          <a:lstStyle/>
          <a:p>
            <a:pPr marL="0" indent="0" algn="l">
              <a:lnSpc>
                <a:spcPts val="1000"/>
              </a:lnSpc>
              <a:buNone/>
            </a:pPr>
            <a:r>
              <a:rPr lang="en-US" sz="1200" b="1" dirty="0">
                <a:solidFill>
                  <a:srgbClr val="272525"/>
                </a:solidFill>
                <a:latin typeface="Inter" pitchFamily="34" charset="0"/>
                <a:ea typeface="Inter" pitchFamily="34" charset="-122"/>
                <a:cs typeface="Inter" pitchFamily="34" charset="-120"/>
              </a:rPr>
              <a:t>Material Stack:</a:t>
            </a:r>
            <a:r>
              <a:rPr lang="en-US" sz="1200" dirty="0">
                <a:solidFill>
                  <a:srgbClr val="272525"/>
                </a:solidFill>
                <a:latin typeface="Inter" pitchFamily="34" charset="0"/>
                <a:ea typeface="Inter" pitchFamily="34" charset="-122"/>
                <a:cs typeface="Inter" pitchFamily="34" charset="-120"/>
              </a:rPr>
              <a:t> Each arm utilizes a </a:t>
            </a:r>
            <a:r>
              <a:rPr lang="en-US" sz="1200" b="1" dirty="0">
                <a:solidFill>
                  <a:srgbClr val="272525"/>
                </a:solidFill>
                <a:latin typeface="Inter" pitchFamily="34" charset="0"/>
                <a:ea typeface="Inter" pitchFamily="34" charset="-122"/>
                <a:cs typeface="Inter" pitchFamily="34" charset="-120"/>
              </a:rPr>
              <a:t>PZT-5H</a:t>
            </a:r>
            <a:r>
              <a:rPr lang="en-US" sz="1200" dirty="0">
                <a:solidFill>
                  <a:srgbClr val="272525"/>
                </a:solidFill>
                <a:latin typeface="Inter" pitchFamily="34" charset="0"/>
                <a:ea typeface="Inter" pitchFamily="34" charset="-122"/>
                <a:cs typeface="Inter" pitchFamily="34" charset="-120"/>
              </a:rPr>
              <a:t> active actuator base for motion and a</a:t>
            </a:r>
          </a:p>
          <a:p>
            <a:pPr marL="0" indent="0" algn="l">
              <a:lnSpc>
                <a:spcPts val="1000"/>
              </a:lnSpc>
              <a:buNone/>
            </a:pPr>
            <a:r>
              <a:rPr lang="en-US" sz="1200" dirty="0">
                <a:solidFill>
                  <a:srgbClr val="272525"/>
                </a:solidFill>
                <a:latin typeface="Inter" pitchFamily="34" charset="0"/>
                <a:ea typeface="Inter" pitchFamily="34" charset="-122"/>
                <a:cs typeface="Inter" pitchFamily="34" charset="-120"/>
              </a:rPr>
              <a:t> </a:t>
            </a:r>
          </a:p>
          <a:p>
            <a:pPr marL="0" indent="0" algn="l">
              <a:lnSpc>
                <a:spcPts val="1000"/>
              </a:lnSpc>
              <a:buNone/>
            </a:pPr>
            <a:r>
              <a:rPr lang="en-US" sz="1200" b="1" dirty="0">
                <a:solidFill>
                  <a:srgbClr val="272525"/>
                </a:solidFill>
                <a:latin typeface="Inter" pitchFamily="34" charset="0"/>
                <a:ea typeface="Inter" pitchFamily="34" charset="-122"/>
                <a:cs typeface="Inter" pitchFamily="34" charset="-120"/>
              </a:rPr>
              <a:t>Polysilicon</a:t>
            </a:r>
            <a:r>
              <a:rPr lang="en-US" sz="1200" dirty="0">
                <a:solidFill>
                  <a:srgbClr val="272525"/>
                </a:solidFill>
                <a:latin typeface="Inter" pitchFamily="34" charset="0"/>
                <a:ea typeface="Inter" pitchFamily="34" charset="-122"/>
                <a:cs typeface="Inter" pitchFamily="34" charset="-120"/>
              </a:rPr>
              <a:t> structural beam for mechanical leverage.</a:t>
            </a:r>
            <a:endParaRPr lang="en-US" sz="1200" dirty="0"/>
          </a:p>
        </p:txBody>
      </p:sp>
      <p:sp>
        <p:nvSpPr>
          <p:cNvPr id="7" name="Text 5"/>
          <p:cNvSpPr/>
          <p:nvPr/>
        </p:nvSpPr>
        <p:spPr>
          <a:xfrm>
            <a:off x="1285875" y="1488504"/>
            <a:ext cx="6572250" cy="127397"/>
          </a:xfrm>
          <a:prstGeom prst="rect">
            <a:avLst/>
          </a:prstGeom>
          <a:noFill/>
          <a:ln/>
        </p:spPr>
        <p:txBody>
          <a:bodyPr wrap="none" lIns="0" tIns="0" rIns="0" bIns="0" rtlCol="0" anchor="t"/>
          <a:lstStyle/>
          <a:p>
            <a:pPr marL="0" indent="0" algn="l">
              <a:lnSpc>
                <a:spcPts val="1000"/>
              </a:lnSpc>
              <a:buNone/>
            </a:pPr>
            <a:endParaRPr lang="en-US" sz="750" dirty="0"/>
          </a:p>
        </p:txBody>
      </p:sp>
      <p:pic>
        <p:nvPicPr>
          <p:cNvPr id="8" name="Image 0" descr="preencoded.png"/>
          <p:cNvPicPr>
            <a:picLocks noChangeAspect="1"/>
          </p:cNvPicPr>
          <p:nvPr/>
        </p:nvPicPr>
        <p:blipFill>
          <a:blip r:embed="rId3"/>
          <a:stretch>
            <a:fillRect/>
          </a:stretch>
        </p:blipFill>
        <p:spPr>
          <a:xfrm>
            <a:off x="4314433" y="1874594"/>
            <a:ext cx="4252392" cy="3003322"/>
          </a:xfrm>
          <a:prstGeom prst="rect">
            <a:avLst/>
          </a:prstGeom>
        </p:spPr>
      </p:pic>
      <p:sp>
        <p:nvSpPr>
          <p:cNvPr id="9" name="Rectangle 8">
            <a:extLst>
              <a:ext uri="{FF2B5EF4-FFF2-40B4-BE49-F238E27FC236}">
                <a16:creationId xmlns:a16="http://schemas.microsoft.com/office/drawing/2014/main" id="{E2820C32-47B6-236B-D2AD-2619B044BBA6}"/>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65162" y="409873"/>
            <a:ext cx="5752430" cy="415305"/>
          </a:xfrm>
          <a:prstGeom prst="rect">
            <a:avLst/>
          </a:prstGeom>
          <a:noFill/>
          <a:ln/>
        </p:spPr>
        <p:txBody>
          <a:bodyPr wrap="none" lIns="0" tIns="0" rIns="0" bIns="0" rtlCol="0" anchor="t"/>
          <a:lstStyle/>
          <a:p>
            <a:pPr marL="0" indent="0" algn="l">
              <a:lnSpc>
                <a:spcPts val="3250"/>
              </a:lnSpc>
              <a:buNone/>
            </a:pPr>
            <a:r>
              <a:rPr lang="en-US" sz="2600" b="1" dirty="0">
                <a:solidFill>
                  <a:srgbClr val="000000"/>
                </a:solidFill>
                <a:latin typeface="Inter Bold" pitchFamily="34" charset="0"/>
                <a:ea typeface="Inter Bold" pitchFamily="34" charset="-122"/>
                <a:cs typeface="Inter Bold" pitchFamily="34" charset="-120"/>
              </a:rPr>
              <a:t>Methodology of the Proposed Work</a:t>
            </a:r>
            <a:endParaRPr lang="en-US" sz="2600" dirty="0"/>
          </a:p>
        </p:txBody>
      </p:sp>
      <p:sp>
        <p:nvSpPr>
          <p:cNvPr id="3" name="Text 1"/>
          <p:cNvSpPr/>
          <p:nvPr/>
        </p:nvSpPr>
        <p:spPr>
          <a:xfrm>
            <a:off x="465162" y="1136600"/>
            <a:ext cx="1661294" cy="207690"/>
          </a:xfrm>
          <a:prstGeom prst="rect">
            <a:avLst/>
          </a:prstGeom>
          <a:noFill/>
          <a:ln/>
        </p:spPr>
        <p:txBody>
          <a:bodyPr wrap="none" lIns="0" tIns="0" rIns="0" bIns="0" rtlCol="0" anchor="t"/>
          <a:lstStyle/>
          <a:p>
            <a:pPr marL="0" indent="0" algn="l">
              <a:lnSpc>
                <a:spcPts val="1600"/>
              </a:lnSpc>
              <a:buNone/>
            </a:pPr>
            <a:endParaRPr lang="en-US" sz="1300" dirty="0"/>
          </a:p>
        </p:txBody>
      </p:sp>
      <p:sp>
        <p:nvSpPr>
          <p:cNvPr id="4" name="Text 2"/>
          <p:cNvSpPr/>
          <p:nvPr/>
        </p:nvSpPr>
        <p:spPr>
          <a:xfrm>
            <a:off x="465162" y="1468859"/>
            <a:ext cx="3859337" cy="617934"/>
          </a:xfrm>
          <a:prstGeom prst="rect">
            <a:avLst/>
          </a:prstGeom>
          <a:noFill/>
          <a:ln/>
        </p:spPr>
        <p:txBody>
          <a:bodyPr wrap="square" lIns="0" tIns="0" rIns="0" bIns="0" rtlCol="0" anchor="t"/>
          <a:lstStyle/>
          <a:p>
            <a:pPr marL="0" indent="0" algn="l">
              <a:lnSpc>
                <a:spcPts val="1600"/>
              </a:lnSpc>
              <a:buNone/>
            </a:pPr>
            <a:r>
              <a:rPr lang="en-US" sz="1000" b="1" dirty="0">
                <a:solidFill>
                  <a:srgbClr val="272525"/>
                </a:solidFill>
                <a:latin typeface="Inter" pitchFamily="34" charset="0"/>
                <a:ea typeface="Inter" pitchFamily="34" charset="-122"/>
                <a:cs typeface="Inter" pitchFamily="34" charset="-120"/>
              </a:rPr>
              <a:t>Multiphysics Coupling:</a:t>
            </a:r>
            <a:r>
              <a:rPr lang="en-US" sz="1000" dirty="0">
                <a:solidFill>
                  <a:srgbClr val="272525"/>
                </a:solidFill>
                <a:latin typeface="Inter" pitchFamily="34" charset="0"/>
                <a:ea typeface="Inter" pitchFamily="34" charset="-122"/>
                <a:cs typeface="Inter" pitchFamily="34" charset="-120"/>
              </a:rPr>
              <a:t> Solid Mechanics and Electrostatics were integrated to simulate the inverse piezoelectric effect under fixed boundary conditions.</a:t>
            </a:r>
            <a:endParaRPr lang="en-US" sz="1000" dirty="0"/>
          </a:p>
        </p:txBody>
      </p:sp>
      <p:sp>
        <p:nvSpPr>
          <p:cNvPr id="5" name="Text 3"/>
          <p:cNvSpPr/>
          <p:nvPr/>
        </p:nvSpPr>
        <p:spPr>
          <a:xfrm>
            <a:off x="465162" y="2211363"/>
            <a:ext cx="2517651" cy="207690"/>
          </a:xfrm>
          <a:prstGeom prst="rect">
            <a:avLst/>
          </a:prstGeom>
          <a:noFill/>
          <a:ln/>
        </p:spPr>
        <p:txBody>
          <a:bodyPr wrap="none" lIns="0" tIns="0" rIns="0" bIns="0" rtlCol="0" anchor="t"/>
          <a:lstStyle/>
          <a:p>
            <a:pPr marL="0" indent="0" algn="l">
              <a:lnSpc>
                <a:spcPts val="1600"/>
              </a:lnSpc>
              <a:buNone/>
            </a:pPr>
            <a:r>
              <a:rPr lang="en-US" sz="1300" b="1" dirty="0">
                <a:solidFill>
                  <a:srgbClr val="000000"/>
                </a:solidFill>
                <a:latin typeface="Inter Bold" pitchFamily="34" charset="0"/>
                <a:ea typeface="Inter Bold" pitchFamily="34" charset="-122"/>
                <a:cs typeface="Inter Bold" pitchFamily="34" charset="-120"/>
              </a:rPr>
              <a:t>Data Generation &amp; Robustness:</a:t>
            </a:r>
            <a:endParaRPr lang="en-US" sz="1300" dirty="0"/>
          </a:p>
        </p:txBody>
      </p:sp>
      <p:sp>
        <p:nvSpPr>
          <p:cNvPr id="6" name="Text 4"/>
          <p:cNvSpPr/>
          <p:nvPr/>
        </p:nvSpPr>
        <p:spPr>
          <a:xfrm>
            <a:off x="465162" y="2543621"/>
            <a:ext cx="3859337" cy="617934"/>
          </a:xfrm>
          <a:prstGeom prst="rect">
            <a:avLst/>
          </a:prstGeom>
          <a:noFill/>
          <a:ln/>
        </p:spPr>
        <p:txBody>
          <a:bodyPr wrap="square" lIns="0" tIns="0" rIns="0" bIns="0" rtlCol="0" anchor="t"/>
          <a:lstStyle/>
          <a:p>
            <a:pPr marL="0" indent="0" algn="l">
              <a:lnSpc>
                <a:spcPts val="1600"/>
              </a:lnSpc>
              <a:buNone/>
            </a:pPr>
            <a:r>
              <a:rPr lang="en-US" sz="1000" b="1" dirty="0">
                <a:solidFill>
                  <a:srgbClr val="272525"/>
                </a:solidFill>
                <a:latin typeface="Inter" pitchFamily="34" charset="0"/>
                <a:ea typeface="Inter" pitchFamily="34" charset="-122"/>
                <a:cs typeface="Inter" pitchFamily="34" charset="-120"/>
              </a:rPr>
              <a:t>Parametric Sweeps:</a:t>
            </a:r>
            <a:r>
              <a:rPr lang="en-US" sz="1000" dirty="0">
                <a:solidFill>
                  <a:srgbClr val="272525"/>
                </a:solidFill>
                <a:latin typeface="Inter" pitchFamily="34" charset="0"/>
                <a:ea typeface="Inter" pitchFamily="34" charset="-122"/>
                <a:cs typeface="Inter" pitchFamily="34" charset="-120"/>
              </a:rPr>
              <a:t> Automated simulations varied V_{in} (0-100V), arm length, and the inter-arm gap to generate thousands of data points.</a:t>
            </a:r>
            <a:endParaRPr lang="en-US" sz="1000" dirty="0"/>
          </a:p>
        </p:txBody>
      </p:sp>
      <p:sp>
        <p:nvSpPr>
          <p:cNvPr id="7" name="Text 5"/>
          <p:cNvSpPr/>
          <p:nvPr/>
        </p:nvSpPr>
        <p:spPr>
          <a:xfrm>
            <a:off x="465162" y="3273623"/>
            <a:ext cx="3859337" cy="617934"/>
          </a:xfrm>
          <a:prstGeom prst="rect">
            <a:avLst/>
          </a:prstGeom>
          <a:noFill/>
          <a:ln/>
        </p:spPr>
        <p:txBody>
          <a:bodyPr wrap="square" lIns="0" tIns="0" rIns="0" bIns="0" rtlCol="0" anchor="t"/>
          <a:lstStyle/>
          <a:p>
            <a:pPr marL="0" indent="0" algn="l">
              <a:lnSpc>
                <a:spcPts val="1600"/>
              </a:lnSpc>
              <a:buNone/>
            </a:pPr>
            <a:r>
              <a:rPr lang="en-US" sz="1000" b="1" dirty="0">
                <a:solidFill>
                  <a:srgbClr val="272525"/>
                </a:solidFill>
                <a:latin typeface="Inter" pitchFamily="34" charset="0"/>
                <a:ea typeface="Inter" pitchFamily="34" charset="-122"/>
                <a:cs typeface="Inter" pitchFamily="34" charset="-120"/>
              </a:rPr>
              <a:t>Stochastic Noise:</a:t>
            </a:r>
            <a:r>
              <a:rPr lang="en-US" sz="1000" dirty="0">
                <a:solidFill>
                  <a:srgbClr val="272525"/>
                </a:solidFill>
                <a:latin typeface="Inter" pitchFamily="34" charset="0"/>
                <a:ea typeface="Inter" pitchFamily="34" charset="-122"/>
                <a:cs typeface="Inter" pitchFamily="34" charset="-120"/>
              </a:rPr>
              <a:t> A </a:t>
            </a:r>
            <a:r>
              <a:rPr lang="en-US" sz="1000" b="1" dirty="0">
                <a:solidFill>
                  <a:srgbClr val="272525"/>
                </a:solidFill>
                <a:latin typeface="Inter" pitchFamily="34" charset="0"/>
                <a:ea typeface="Inter" pitchFamily="34" charset="-122"/>
                <a:cs typeface="Inter" pitchFamily="34" charset="-120"/>
              </a:rPr>
              <a:t>1.8% Additive White Gaussian Noise (AWGN)</a:t>
            </a:r>
            <a:r>
              <a:rPr lang="en-US" sz="1000" dirty="0">
                <a:solidFill>
                  <a:srgbClr val="272525"/>
                </a:solidFill>
                <a:latin typeface="Inter" pitchFamily="34" charset="0"/>
                <a:ea typeface="Inter" pitchFamily="34" charset="-122"/>
                <a:cs typeface="Inter" pitchFamily="34" charset="-120"/>
              </a:rPr>
              <a:t> was injected into the dataset to simulate real-world industrial sensor uncertainty.</a:t>
            </a:r>
            <a:endParaRPr lang="en-US" sz="1000" dirty="0"/>
          </a:p>
        </p:txBody>
      </p:sp>
      <p:sp>
        <p:nvSpPr>
          <p:cNvPr id="8" name="Text 6"/>
          <p:cNvSpPr/>
          <p:nvPr/>
        </p:nvSpPr>
        <p:spPr>
          <a:xfrm>
            <a:off x="465162" y="4003625"/>
            <a:ext cx="3859337" cy="617934"/>
          </a:xfrm>
          <a:prstGeom prst="rect">
            <a:avLst/>
          </a:prstGeom>
          <a:noFill/>
          <a:ln/>
        </p:spPr>
        <p:txBody>
          <a:bodyPr wrap="square" lIns="0" tIns="0" rIns="0" bIns="0" rtlCol="0" anchor="t"/>
          <a:lstStyle/>
          <a:p>
            <a:pPr marL="0" indent="0" algn="l">
              <a:lnSpc>
                <a:spcPts val="1600"/>
              </a:lnSpc>
              <a:buNone/>
            </a:pPr>
            <a:r>
              <a:rPr lang="en-US" sz="1000" b="1" dirty="0">
                <a:solidFill>
                  <a:srgbClr val="272525"/>
                </a:solidFill>
                <a:latin typeface="Inter" pitchFamily="34" charset="0"/>
                <a:ea typeface="Inter" pitchFamily="34" charset="-122"/>
                <a:cs typeface="Inter" pitchFamily="34" charset="-120"/>
              </a:rPr>
              <a:t>Target Output:</a:t>
            </a:r>
            <a:r>
              <a:rPr lang="en-US" sz="1000" dirty="0">
                <a:solidFill>
                  <a:srgbClr val="272525"/>
                </a:solidFill>
                <a:latin typeface="Inter" pitchFamily="34" charset="0"/>
                <a:ea typeface="Inter" pitchFamily="34" charset="-122"/>
                <a:cs typeface="Inter" pitchFamily="34" charset="-120"/>
              </a:rPr>
              <a:t> The model extracts the total symmetric </a:t>
            </a:r>
            <a:r>
              <a:rPr lang="en-US" sz="1000" b="1" dirty="0">
                <a:solidFill>
                  <a:srgbClr val="272525"/>
                </a:solidFill>
                <a:latin typeface="Inter" pitchFamily="34" charset="0"/>
                <a:ea typeface="Inter" pitchFamily="34" charset="-122"/>
                <a:cs typeface="Inter" pitchFamily="34" charset="-120"/>
              </a:rPr>
              <a:t>Reaction Force (RF_x)</a:t>
            </a:r>
            <a:r>
              <a:rPr lang="en-US" sz="1000" dirty="0">
                <a:solidFill>
                  <a:srgbClr val="272525"/>
                </a:solidFill>
                <a:latin typeface="Inter" pitchFamily="34" charset="0"/>
                <a:ea typeface="Inter" pitchFamily="34" charset="-122"/>
                <a:cs typeface="Inter" pitchFamily="34" charset="-120"/>
              </a:rPr>
              <a:t> generated during contact with rigid micro-objects.</a:t>
            </a:r>
            <a:endParaRPr lang="en-US" sz="1000" dirty="0"/>
          </a:p>
        </p:txBody>
      </p:sp>
      <p:sp>
        <p:nvSpPr>
          <p:cNvPr id="10" name="Text 7"/>
          <p:cNvSpPr/>
          <p:nvPr/>
        </p:nvSpPr>
        <p:spPr>
          <a:xfrm>
            <a:off x="4653409" y="4255368"/>
            <a:ext cx="4030117" cy="205978"/>
          </a:xfrm>
          <a:prstGeom prst="rect">
            <a:avLst/>
          </a:prstGeom>
          <a:noFill/>
          <a:ln/>
        </p:spPr>
        <p:txBody>
          <a:bodyPr wrap="none" lIns="0" tIns="0" rIns="0" bIns="0" rtlCol="0" anchor="t"/>
          <a:lstStyle/>
          <a:p>
            <a:pPr marL="0" indent="0" algn="l">
              <a:lnSpc>
                <a:spcPts val="1600"/>
              </a:lnSpc>
              <a:buNone/>
            </a:pPr>
            <a:endParaRPr lang="en-US" sz="1000" dirty="0"/>
          </a:p>
        </p:txBody>
      </p:sp>
      <p:sp>
        <p:nvSpPr>
          <p:cNvPr id="11" name="Rectangle 10">
            <a:extLst>
              <a:ext uri="{FF2B5EF4-FFF2-40B4-BE49-F238E27FC236}">
                <a16:creationId xmlns:a16="http://schemas.microsoft.com/office/drawing/2014/main" id="{DD9BF3CD-AC43-2C45-E650-3E4A3E37A335}"/>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5" name="Picture 14">
            <a:extLst>
              <a:ext uri="{FF2B5EF4-FFF2-40B4-BE49-F238E27FC236}">
                <a16:creationId xmlns:a16="http://schemas.microsoft.com/office/drawing/2014/main" id="{4B6F8997-85C2-B2EA-A7EE-4DCC4CA48E87}"/>
              </a:ext>
            </a:extLst>
          </p:cNvPr>
          <p:cNvPicPr>
            <a:picLocks noChangeAspect="1"/>
          </p:cNvPicPr>
          <p:nvPr/>
        </p:nvPicPr>
        <p:blipFill>
          <a:blip r:embed="rId3"/>
          <a:stretch>
            <a:fillRect/>
          </a:stretch>
        </p:blipFill>
        <p:spPr>
          <a:xfrm>
            <a:off x="4653409" y="1448322"/>
            <a:ext cx="4222802" cy="3168870"/>
          </a:xfrm>
          <a:prstGeom prst="rect">
            <a:avLst/>
          </a:prstGeom>
        </p:spPr>
      </p:pic>
      <p:sp>
        <p:nvSpPr>
          <p:cNvPr id="17" name="Text 6">
            <a:extLst>
              <a:ext uri="{FF2B5EF4-FFF2-40B4-BE49-F238E27FC236}">
                <a16:creationId xmlns:a16="http://schemas.microsoft.com/office/drawing/2014/main" id="{4D93F29C-BDC4-8750-1AE1-62BD1D0A85AA}"/>
              </a:ext>
            </a:extLst>
          </p:cNvPr>
          <p:cNvSpPr/>
          <p:nvPr/>
        </p:nvSpPr>
        <p:spPr>
          <a:xfrm>
            <a:off x="4704512" y="4622956"/>
            <a:ext cx="4244008" cy="617934"/>
          </a:xfrm>
          <a:prstGeom prst="rect">
            <a:avLst/>
          </a:prstGeom>
          <a:noFill/>
          <a:ln/>
        </p:spPr>
        <p:txBody>
          <a:bodyPr wrap="square" lIns="0" tIns="0" rIns="0" bIns="0" rtlCol="0" anchor="t"/>
          <a:lstStyle/>
          <a:p>
            <a:pPr marL="0" indent="0" algn="l">
              <a:lnSpc>
                <a:spcPts val="1600"/>
              </a:lnSpc>
              <a:buNone/>
            </a:pPr>
            <a:r>
              <a:rPr lang="en-US" sz="1000" b="1" dirty="0">
                <a:solidFill>
                  <a:srgbClr val="272525"/>
                </a:solidFill>
                <a:latin typeface="Inter" pitchFamily="34" charset="0"/>
                <a:ea typeface="Inter" pitchFamily="34" charset="-122"/>
              </a:rPr>
              <a:t>&gt;&gt;2-D Image of our Micro-Gripper explaining the pinching motion.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620869"/>
            <a:ext cx="6136481" cy="442987"/>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Methodology of the Proposed Work</a:t>
            </a:r>
            <a:endParaRPr lang="en-US" sz="2750" dirty="0"/>
          </a:p>
        </p:txBody>
      </p:sp>
      <p:sp>
        <p:nvSpPr>
          <p:cNvPr id="3" name="Text 1"/>
          <p:cNvSpPr/>
          <p:nvPr/>
        </p:nvSpPr>
        <p:spPr>
          <a:xfrm>
            <a:off x="496119" y="1680493"/>
            <a:ext cx="8151763" cy="283443"/>
          </a:xfrm>
          <a:prstGeom prst="rect">
            <a:avLst/>
          </a:prstGeom>
          <a:noFill/>
          <a:ln/>
        </p:spPr>
        <p:txBody>
          <a:bodyPr wrap="none" lIns="0" tIns="0" rIns="0" bIns="0" rtlCol="0" anchor="t"/>
          <a:lstStyle/>
          <a:p>
            <a:pPr marL="0" indent="0" algn="l">
              <a:lnSpc>
                <a:spcPts val="2200"/>
              </a:lnSpc>
              <a:buNone/>
            </a:pPr>
            <a:r>
              <a:rPr lang="en-US" b="1" dirty="0">
                <a:solidFill>
                  <a:srgbClr val="272525"/>
                </a:solidFill>
                <a:latin typeface="Inter" pitchFamily="34" charset="0"/>
                <a:ea typeface="Inter" pitchFamily="34" charset="-122"/>
                <a:cs typeface="Inter" pitchFamily="34" charset="-120"/>
              </a:rPr>
              <a:t>Machine Learning Framework:</a:t>
            </a:r>
            <a:endParaRPr lang="en-US" dirty="0"/>
          </a:p>
        </p:txBody>
      </p:sp>
      <p:sp>
        <p:nvSpPr>
          <p:cNvPr id="4" name="Text 2"/>
          <p:cNvSpPr/>
          <p:nvPr/>
        </p:nvSpPr>
        <p:spPr>
          <a:xfrm>
            <a:off x="496117" y="2225148"/>
            <a:ext cx="8151763" cy="453628"/>
          </a:xfrm>
          <a:prstGeom prst="rect">
            <a:avLst/>
          </a:prstGeom>
          <a:noFill/>
          <a:ln/>
        </p:spPr>
        <p:txBody>
          <a:bodyPr wrap="square" lIns="0" tIns="0" rIns="0" bIns="0" rtlCol="0" anchor="t"/>
          <a:lstStyle/>
          <a:p>
            <a:pPr marL="0" indent="0" algn="l">
              <a:lnSpc>
                <a:spcPts val="1750"/>
              </a:lnSpc>
              <a:buNone/>
            </a:pPr>
            <a:r>
              <a:rPr lang="en-US" b="1" dirty="0">
                <a:solidFill>
                  <a:srgbClr val="272525"/>
                </a:solidFill>
                <a:latin typeface="Inter" pitchFamily="34" charset="0"/>
                <a:ea typeface="Inter" pitchFamily="34" charset="-122"/>
                <a:cs typeface="Inter" pitchFamily="34" charset="-120"/>
              </a:rPr>
              <a:t>Surrogate Modeling:</a:t>
            </a:r>
            <a:r>
              <a:rPr lang="en-US" dirty="0">
                <a:solidFill>
                  <a:srgbClr val="272525"/>
                </a:solidFill>
                <a:latin typeface="Inter" pitchFamily="34" charset="0"/>
                <a:ea typeface="Inter" pitchFamily="34" charset="-122"/>
                <a:cs typeface="Inter" pitchFamily="34" charset="-120"/>
              </a:rPr>
              <a:t> A Random Forest regressor algorithm was developed to replace the high computational latency of the dual-arm FEA solver.</a:t>
            </a:r>
            <a:endParaRPr lang="en-US" dirty="0"/>
          </a:p>
        </p:txBody>
      </p:sp>
      <p:sp>
        <p:nvSpPr>
          <p:cNvPr id="5" name="Text 3"/>
          <p:cNvSpPr/>
          <p:nvPr/>
        </p:nvSpPr>
        <p:spPr>
          <a:xfrm>
            <a:off x="496118" y="2925544"/>
            <a:ext cx="8151763" cy="453628"/>
          </a:xfrm>
          <a:prstGeom prst="rect">
            <a:avLst/>
          </a:prstGeom>
          <a:noFill/>
          <a:ln/>
        </p:spPr>
        <p:txBody>
          <a:bodyPr wrap="square" lIns="0" tIns="0" rIns="0" bIns="0" rtlCol="0" anchor="t"/>
          <a:lstStyle/>
          <a:p>
            <a:pPr marL="0" indent="0" algn="l">
              <a:lnSpc>
                <a:spcPts val="1750"/>
              </a:lnSpc>
              <a:buNone/>
            </a:pPr>
            <a:r>
              <a:rPr lang="en-US" b="1" dirty="0">
                <a:solidFill>
                  <a:srgbClr val="272525"/>
                </a:solidFill>
                <a:latin typeface="Inter" pitchFamily="34" charset="0"/>
                <a:ea typeface="Inter" pitchFamily="34" charset="-122"/>
                <a:cs typeface="Inter" pitchFamily="34" charset="-120"/>
              </a:rPr>
              <a:t>Input Mapping:</a:t>
            </a:r>
            <a:r>
              <a:rPr lang="en-US" dirty="0">
                <a:solidFill>
                  <a:srgbClr val="272525"/>
                </a:solidFill>
                <a:latin typeface="Inter" pitchFamily="34" charset="0"/>
                <a:ea typeface="Inter" pitchFamily="34" charset="-122"/>
                <a:cs typeface="Inter" pitchFamily="34" charset="-120"/>
              </a:rPr>
              <a:t> The framework maps four critical features—Voltage, Arm Length, Gap Distance, and Width—directly to the predicted Grip Force.</a:t>
            </a:r>
            <a:endParaRPr lang="en-US" dirty="0"/>
          </a:p>
        </p:txBody>
      </p:sp>
      <p:sp>
        <p:nvSpPr>
          <p:cNvPr id="6" name="Text 4"/>
          <p:cNvSpPr/>
          <p:nvPr/>
        </p:nvSpPr>
        <p:spPr>
          <a:xfrm>
            <a:off x="496119" y="3706312"/>
            <a:ext cx="8151763" cy="453628"/>
          </a:xfrm>
          <a:prstGeom prst="rect">
            <a:avLst/>
          </a:prstGeom>
          <a:noFill/>
          <a:ln/>
        </p:spPr>
        <p:txBody>
          <a:bodyPr wrap="square" lIns="0" tIns="0" rIns="0" bIns="0" rtlCol="0" anchor="t"/>
          <a:lstStyle/>
          <a:p>
            <a:pPr marL="0" indent="0" algn="l">
              <a:lnSpc>
                <a:spcPts val="1750"/>
              </a:lnSpc>
              <a:buNone/>
            </a:pPr>
            <a:r>
              <a:rPr lang="en-US" b="1" dirty="0">
                <a:solidFill>
                  <a:srgbClr val="272525"/>
                </a:solidFill>
                <a:latin typeface="Inter" pitchFamily="34" charset="0"/>
                <a:ea typeface="Inter" pitchFamily="34" charset="-122"/>
                <a:cs typeface="Inter" pitchFamily="34" charset="-120"/>
              </a:rPr>
              <a:t>Model Training:</a:t>
            </a:r>
            <a:r>
              <a:rPr lang="en-US" dirty="0">
                <a:solidFill>
                  <a:srgbClr val="272525"/>
                </a:solidFill>
                <a:latin typeface="Inter" pitchFamily="34" charset="0"/>
                <a:ea typeface="Inter" pitchFamily="34" charset="-122"/>
                <a:cs typeface="Inter" pitchFamily="34" charset="-120"/>
              </a:rPr>
              <a:t> The system was trained on the noise-augmented dataset to ensure high reliability in stochastic industrial assembly environments.</a:t>
            </a:r>
            <a:endParaRPr lang="en-US" dirty="0"/>
          </a:p>
        </p:txBody>
      </p:sp>
      <p:sp>
        <p:nvSpPr>
          <p:cNvPr id="7" name="Text 5"/>
          <p:cNvSpPr/>
          <p:nvPr/>
        </p:nvSpPr>
        <p:spPr>
          <a:xfrm>
            <a:off x="496119" y="3962698"/>
            <a:ext cx="8151763" cy="226814"/>
          </a:xfrm>
          <a:prstGeom prst="rect">
            <a:avLst/>
          </a:prstGeom>
          <a:noFill/>
          <a:ln/>
        </p:spPr>
        <p:txBody>
          <a:bodyPr wrap="none" lIns="0" tIns="0" rIns="0" bIns="0" rtlCol="0" anchor="t"/>
          <a:lstStyle/>
          <a:p>
            <a:pPr marL="0" indent="0" algn="l">
              <a:lnSpc>
                <a:spcPts val="1750"/>
              </a:lnSpc>
              <a:buNone/>
            </a:pPr>
            <a:endParaRPr lang="en-US" dirty="0"/>
          </a:p>
        </p:txBody>
      </p:sp>
      <p:sp>
        <p:nvSpPr>
          <p:cNvPr id="8" name="Rectangle 7">
            <a:extLst>
              <a:ext uri="{FF2B5EF4-FFF2-40B4-BE49-F238E27FC236}">
                <a16:creationId xmlns:a16="http://schemas.microsoft.com/office/drawing/2014/main" id="{E5CC619B-A411-EB8A-B953-BB32537480D3}"/>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752393-DDD1-5DEA-7403-AA4108A55682}"/>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 name="Text 0">
            <a:extLst>
              <a:ext uri="{FF2B5EF4-FFF2-40B4-BE49-F238E27FC236}">
                <a16:creationId xmlns:a16="http://schemas.microsoft.com/office/drawing/2014/main" id="{F8A34022-9E8D-FBD0-FEC9-711CFF46B0BE}"/>
              </a:ext>
            </a:extLst>
          </p:cNvPr>
          <p:cNvSpPr/>
          <p:nvPr/>
        </p:nvSpPr>
        <p:spPr>
          <a:xfrm>
            <a:off x="306750" y="182892"/>
            <a:ext cx="4565696" cy="685787"/>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Animations and Working:</a:t>
            </a:r>
            <a:endParaRPr lang="en-US" sz="2650" dirty="0"/>
          </a:p>
        </p:txBody>
      </p:sp>
      <p:pic>
        <p:nvPicPr>
          <p:cNvPr id="4" name="2rm bending">
            <a:hlinkClick r:id="" action="ppaction://media"/>
            <a:extLst>
              <a:ext uri="{FF2B5EF4-FFF2-40B4-BE49-F238E27FC236}">
                <a16:creationId xmlns:a16="http://schemas.microsoft.com/office/drawing/2014/main" id="{F93C7C1B-B683-CD4B-47AE-6457E69F3E5A}"/>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r="1456" b="7834"/>
          <a:stretch>
            <a:fillRect/>
          </a:stretch>
        </p:blipFill>
        <p:spPr>
          <a:xfrm>
            <a:off x="306750" y="709236"/>
            <a:ext cx="3977867" cy="2270616"/>
          </a:xfrm>
          <a:prstGeom prst="rect">
            <a:avLst/>
          </a:prstGeom>
        </p:spPr>
      </p:pic>
      <p:pic>
        <p:nvPicPr>
          <p:cNvPr id="5" name="2rm bending 2">
            <a:hlinkClick r:id="" action="ppaction://media"/>
            <a:extLst>
              <a:ext uri="{FF2B5EF4-FFF2-40B4-BE49-F238E27FC236}">
                <a16:creationId xmlns:a16="http://schemas.microsoft.com/office/drawing/2014/main" id="{748E0606-0AC7-6D78-0A2D-3F14348606B9}"/>
              </a:ext>
            </a:extLst>
          </p:cNvPr>
          <p:cNvPicPr>
            <a:picLocks noChangeAspect="1"/>
          </p:cNvPicPr>
          <p:nvPr>
            <a:videoFile r:link="rId4"/>
            <p:extLst>
              <p:ext uri="{DAA4B4D4-6D71-4841-9C94-3DE7FCFB9230}">
                <p14:media xmlns:p14="http://schemas.microsoft.com/office/powerpoint/2010/main" r:embed="rId3"/>
              </p:ext>
            </p:extLst>
          </p:nvPr>
        </p:nvPicPr>
        <p:blipFill>
          <a:blip r:embed="rId7"/>
          <a:srcRect r="11980"/>
          <a:stretch>
            <a:fillRect/>
          </a:stretch>
        </p:blipFill>
        <p:spPr>
          <a:xfrm>
            <a:off x="4800602" y="709236"/>
            <a:ext cx="3553095" cy="2270616"/>
          </a:xfrm>
          <a:prstGeom prst="rect">
            <a:avLst/>
          </a:prstGeom>
        </p:spPr>
      </p:pic>
      <p:sp>
        <p:nvSpPr>
          <p:cNvPr id="6" name="Rectangle 1">
            <a:extLst>
              <a:ext uri="{FF2B5EF4-FFF2-40B4-BE49-F238E27FC236}">
                <a16:creationId xmlns:a16="http://schemas.microsoft.com/office/drawing/2014/main" id="{42D5A325-A509-06D7-7776-1B7F1FB0F1CC}"/>
              </a:ext>
            </a:extLst>
          </p:cNvPr>
          <p:cNvSpPr>
            <a:spLocks noChangeArrowheads="1"/>
          </p:cNvSpPr>
          <p:nvPr/>
        </p:nvSpPr>
        <p:spPr bwMode="auto">
          <a:xfrm>
            <a:off x="195943" y="3151126"/>
            <a:ext cx="902631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Displacement Analysis:</a:t>
            </a:r>
            <a:r>
              <a:rPr kumimoji="0" lang="en-US" altLang="en-US" sz="1600" b="0" i="0" u="none" strike="noStrike" cap="none" normalizeH="0" baseline="0" dirty="0">
                <a:ln>
                  <a:noFill/>
                </a:ln>
                <a:solidFill>
                  <a:schemeClr val="tx1"/>
                </a:solidFill>
                <a:effectLst/>
                <a:latin typeface="Arial" panose="020B0604020202020204" pitchFamily="34" charset="0"/>
              </a:rPr>
              <a:t> The COMSOL Multiphysics simulation visually validates the structural </a:t>
            </a:r>
          </a:p>
          <a:p>
            <a:pPr marL="0" marR="0" lvl="0" indent="0" algn="l" defTabSz="914400" rtl="0" eaLnBrk="0" fontAlgn="base" latinLnBrk="0" hangingPunct="0">
              <a:lnSpc>
                <a:spcPct val="100000"/>
              </a:lnSpc>
              <a:spcBef>
                <a:spcPct val="0"/>
              </a:spcBef>
              <a:spcAft>
                <a:spcPct val="0"/>
              </a:spcAft>
              <a:buClrTx/>
              <a:buSzTx/>
              <a:tabLst/>
            </a:pPr>
            <a:r>
              <a:rPr lang="en-US" altLang="en-US" sz="1600" dirty="0">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deformation and displacement magnitude during actuation.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Kinematic Verification:</a:t>
            </a:r>
            <a:r>
              <a:rPr kumimoji="0" lang="en-US" altLang="en-US" sz="1600" b="0" i="0" u="none" strike="noStrike" cap="none" normalizeH="0" baseline="0" dirty="0">
                <a:ln>
                  <a:noFill/>
                </a:ln>
                <a:solidFill>
                  <a:schemeClr val="tx1"/>
                </a:solidFill>
                <a:effectLst/>
                <a:latin typeface="Arial" panose="020B0604020202020204" pitchFamily="34" charset="0"/>
              </a:rPr>
              <a:t> Demonstrates the smooth, continuous transition of the MEMS structure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from an unpowered vertical state to a deformed gripping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Mesh &amp; Structural Integrity:</a:t>
            </a:r>
            <a:r>
              <a:rPr kumimoji="0" lang="en-US" altLang="en-US" sz="1600" b="0" i="0" u="none" strike="noStrike" cap="none" normalizeH="0" baseline="0" dirty="0">
                <a:ln>
                  <a:noFill/>
                </a:ln>
                <a:solidFill>
                  <a:schemeClr val="tx1"/>
                </a:solidFill>
                <a:effectLst/>
                <a:latin typeface="Arial" panose="020B0604020202020204" pitchFamily="34" charset="0"/>
              </a:rPr>
              <a:t> The triangular mesh model verifies that the applied physical forces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result in the intended inward leaning motion without structural failure.</a:t>
            </a:r>
          </a:p>
        </p:txBody>
      </p:sp>
    </p:spTree>
    <p:extLst>
      <p:ext uri="{BB962C8B-B14F-4D97-AF65-F5344CB8AC3E}">
        <p14:creationId xmlns:p14="http://schemas.microsoft.com/office/powerpoint/2010/main" val="230911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83"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49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mute="1">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DADBF1"/>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70842" y="1339007"/>
            <a:ext cx="3287316" cy="2465487"/>
          </a:xfrm>
          <a:prstGeom prst="rect">
            <a:avLst/>
          </a:prstGeom>
        </p:spPr>
      </p:pic>
      <p:sp>
        <p:nvSpPr>
          <p:cNvPr id="4" name="Text 1"/>
          <p:cNvSpPr/>
          <p:nvPr/>
        </p:nvSpPr>
        <p:spPr>
          <a:xfrm>
            <a:off x="3925119" y="1060326"/>
            <a:ext cx="4082058" cy="442987"/>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Results and Main Focus</a:t>
            </a:r>
            <a:endParaRPr lang="en-US" sz="2750" dirty="0"/>
          </a:p>
        </p:txBody>
      </p:sp>
      <p:sp>
        <p:nvSpPr>
          <p:cNvPr id="5" name="Text 2"/>
          <p:cNvSpPr/>
          <p:nvPr/>
        </p:nvSpPr>
        <p:spPr>
          <a:xfrm>
            <a:off x="3925119" y="1715914"/>
            <a:ext cx="4722763" cy="2367260"/>
          </a:xfrm>
          <a:prstGeom prst="rect">
            <a:avLst/>
          </a:prstGeom>
          <a:noFill/>
          <a:ln/>
        </p:spPr>
        <p:txBody>
          <a:bodyPr wrap="square" lIns="0" tIns="0" rIns="0" bIns="0" rtlCol="0" anchor="t"/>
          <a:lstStyle/>
          <a:p>
            <a:pPr marL="342900" indent="-342900" algn="l">
              <a:lnSpc>
                <a:spcPts val="1750"/>
              </a:lnSpc>
              <a:buSzPct val="100000"/>
              <a:buChar char="•"/>
            </a:pPr>
            <a:r>
              <a:rPr lang="en-US" sz="1100" b="1" dirty="0">
                <a:solidFill>
                  <a:srgbClr val="272525"/>
                </a:solidFill>
                <a:latin typeface="Inter" pitchFamily="34" charset="0"/>
                <a:ea typeface="Inter" pitchFamily="34" charset="-122"/>
                <a:cs typeface="Inter" pitchFamily="34" charset="-120"/>
              </a:rPr>
              <a:t>Dual-Arm Force Dynamics:</a:t>
            </a:r>
            <a:r>
              <a:rPr lang="en-US" sz="1100" dirty="0">
                <a:solidFill>
                  <a:srgbClr val="272525"/>
                </a:solidFill>
                <a:latin typeface="Inter" pitchFamily="34" charset="0"/>
                <a:ea typeface="Inter" pitchFamily="34" charset="-122"/>
                <a:cs typeface="Inter" pitchFamily="34" charset="-120"/>
              </a:rPr>
              <a:t> 3D COMSOL simulations confirm that each arm generates a lateral force of 138 µN, providing a combined symmetric "pinch" force for stable micro-object stabilization.</a:t>
            </a:r>
            <a:endParaRPr lang="en-US" sz="1100" dirty="0"/>
          </a:p>
          <a:p>
            <a:pPr marL="342900" indent="-342900" algn="l">
              <a:lnSpc>
                <a:spcPts val="1750"/>
              </a:lnSpc>
              <a:buSzPct val="100000"/>
              <a:buChar char="•"/>
            </a:pPr>
            <a:r>
              <a:rPr lang="en-US" sz="1100" b="1" dirty="0">
                <a:solidFill>
                  <a:srgbClr val="272525"/>
                </a:solidFill>
                <a:latin typeface="Inter" pitchFamily="34" charset="0"/>
                <a:ea typeface="Inter" pitchFamily="34" charset="-122"/>
                <a:cs typeface="Inter" pitchFamily="34" charset="-120"/>
              </a:rPr>
              <a:t>Displacement Precision:</a:t>
            </a:r>
            <a:r>
              <a:rPr lang="en-US" sz="1100" dirty="0">
                <a:solidFill>
                  <a:srgbClr val="272525"/>
                </a:solidFill>
                <a:latin typeface="Inter" pitchFamily="34" charset="0"/>
                <a:ea typeface="Inter" pitchFamily="34" charset="-122"/>
                <a:cs typeface="Inter" pitchFamily="34" charset="-120"/>
              </a:rPr>
              <a:t> The synchronized inward bending of the two Polysilicon arms eliminates the object-sliding issues inherent in single-cantilever designs.</a:t>
            </a:r>
            <a:endParaRPr lang="en-US" sz="1100" dirty="0"/>
          </a:p>
          <a:p>
            <a:pPr marL="342900" indent="-342900" algn="l">
              <a:lnSpc>
                <a:spcPts val="1750"/>
              </a:lnSpc>
              <a:buSzPct val="100000"/>
              <a:buChar char="•"/>
            </a:pPr>
            <a:r>
              <a:rPr lang="en-US" sz="1100" b="1" dirty="0">
                <a:solidFill>
                  <a:srgbClr val="272525"/>
                </a:solidFill>
                <a:latin typeface="Inter" pitchFamily="34" charset="0"/>
                <a:ea typeface="Inter" pitchFamily="34" charset="-122"/>
                <a:cs typeface="Inter" pitchFamily="34" charset="-120"/>
              </a:rPr>
              <a:t>Structural Reliability:</a:t>
            </a:r>
            <a:r>
              <a:rPr lang="en-US" sz="1100" dirty="0">
                <a:solidFill>
                  <a:srgbClr val="272525"/>
                </a:solidFill>
                <a:latin typeface="Inter" pitchFamily="34" charset="0"/>
                <a:ea typeface="Inter" pitchFamily="34" charset="-122"/>
                <a:cs typeface="Inter" pitchFamily="34" charset="-120"/>
              </a:rPr>
              <a:t> The use of the </a:t>
            </a:r>
            <a:r>
              <a:rPr lang="en-US" sz="1100" b="1" dirty="0">
                <a:solidFill>
                  <a:srgbClr val="272525"/>
                </a:solidFill>
                <a:latin typeface="Inter" pitchFamily="34" charset="0"/>
                <a:ea typeface="Inter" pitchFamily="34" charset="-122"/>
                <a:cs typeface="Inter" pitchFamily="34" charset="-120"/>
              </a:rPr>
              <a:t>PZT-5H/Polysilicon</a:t>
            </a:r>
            <a:r>
              <a:rPr lang="en-US" sz="1100" dirty="0">
                <a:solidFill>
                  <a:srgbClr val="272525"/>
                </a:solidFill>
                <a:latin typeface="Inter" pitchFamily="34" charset="0"/>
                <a:ea typeface="Inter" pitchFamily="34" charset="-122"/>
                <a:cs typeface="Inter" pitchFamily="34" charset="-120"/>
              </a:rPr>
              <a:t> bimorph stack ensures the high-yield precision required for damage-free handling of micro-lenses and optical fibers.</a:t>
            </a:r>
            <a:endParaRPr lang="en-US" sz="1100" dirty="0"/>
          </a:p>
        </p:txBody>
      </p:sp>
      <p:sp>
        <p:nvSpPr>
          <p:cNvPr id="6" name="Rectangle 5">
            <a:extLst>
              <a:ext uri="{FF2B5EF4-FFF2-40B4-BE49-F238E27FC236}">
                <a16:creationId xmlns:a16="http://schemas.microsoft.com/office/drawing/2014/main" id="{F6B6BCF9-0BE0-18EE-950F-08A9DB645969}"/>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52778" t="6218" b="1664"/>
          <a:stretch>
            <a:fillRect/>
          </a:stretch>
        </p:blipFill>
        <p:spPr>
          <a:xfrm>
            <a:off x="511447" y="52691"/>
            <a:ext cx="3631474" cy="2584030"/>
          </a:xfrm>
          <a:prstGeom prst="rect">
            <a:avLst/>
          </a:prstGeom>
        </p:spPr>
      </p:pic>
      <p:sp>
        <p:nvSpPr>
          <p:cNvPr id="3" name="Text 0"/>
          <p:cNvSpPr/>
          <p:nvPr/>
        </p:nvSpPr>
        <p:spPr>
          <a:xfrm>
            <a:off x="4741590" y="862161"/>
            <a:ext cx="3890963" cy="422300"/>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Results and Main Focus</a:t>
            </a:r>
            <a:endParaRPr lang="en-US" sz="2650" dirty="0"/>
          </a:p>
        </p:txBody>
      </p:sp>
      <p:sp>
        <p:nvSpPr>
          <p:cNvPr id="4" name="Text 1"/>
          <p:cNvSpPr/>
          <p:nvPr/>
        </p:nvSpPr>
        <p:spPr>
          <a:xfrm>
            <a:off x="4698280" y="1507005"/>
            <a:ext cx="3934271" cy="844451"/>
          </a:xfrm>
          <a:prstGeom prst="rect">
            <a:avLst/>
          </a:prstGeom>
          <a:noFill/>
          <a:ln/>
        </p:spPr>
        <p:txBody>
          <a:bodyPr wrap="squar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Predictive Accuracy:</a:t>
            </a:r>
            <a:r>
              <a:rPr lang="en-US" sz="1200" dirty="0">
                <a:solidFill>
                  <a:srgbClr val="272525"/>
                </a:solidFill>
                <a:latin typeface="Inter" pitchFamily="34" charset="0"/>
                <a:ea typeface="Inter" pitchFamily="34" charset="-122"/>
                <a:cs typeface="Inter" pitchFamily="34" charset="-120"/>
              </a:rPr>
              <a:t> The ML surrogate model achieved an </a:t>
            </a:r>
            <a:r>
              <a:rPr lang="en-US" sz="1200" b="1" dirty="0">
                <a:solidFill>
                  <a:srgbClr val="272525"/>
                </a:solidFill>
                <a:latin typeface="Inter" pitchFamily="34" charset="0"/>
                <a:ea typeface="Inter" pitchFamily="34" charset="-122"/>
                <a:cs typeface="Inter" pitchFamily="34" charset="-120"/>
              </a:rPr>
              <a:t>R^2 value of 0.935</a:t>
            </a:r>
            <a:r>
              <a:rPr lang="en-US" sz="1200" dirty="0">
                <a:solidFill>
                  <a:srgbClr val="272525"/>
                </a:solidFill>
                <a:latin typeface="Inter" pitchFamily="34" charset="0"/>
                <a:ea typeface="Inter" pitchFamily="34" charset="-122"/>
                <a:cs typeface="Inter" pitchFamily="34" charset="-120"/>
              </a:rPr>
              <a:t>, maintaining near-perfect precision even after the injection of </a:t>
            </a:r>
            <a:r>
              <a:rPr lang="en-US" sz="1200" b="1" dirty="0">
                <a:solidFill>
                  <a:srgbClr val="272525"/>
                </a:solidFill>
                <a:latin typeface="Inter" pitchFamily="34" charset="0"/>
                <a:ea typeface="Inter" pitchFamily="34" charset="-122"/>
                <a:cs typeface="Inter" pitchFamily="34" charset="-120"/>
              </a:rPr>
              <a:t>1.8% stochastic noise</a:t>
            </a:r>
            <a:r>
              <a:rPr lang="en-US" sz="1200" dirty="0">
                <a:solidFill>
                  <a:srgbClr val="272525"/>
                </a:solidFill>
                <a:latin typeface="Inter" pitchFamily="34" charset="0"/>
                <a:ea typeface="Inter" pitchFamily="34" charset="-122"/>
                <a:cs typeface="Inter" pitchFamily="34" charset="-120"/>
              </a:rPr>
              <a:t> to simulate real-world sensor uncertainty.</a:t>
            </a:r>
            <a:endParaRPr lang="en-US" sz="1200" dirty="0"/>
          </a:p>
        </p:txBody>
      </p:sp>
      <p:sp>
        <p:nvSpPr>
          <p:cNvPr id="5" name="Text 2"/>
          <p:cNvSpPr/>
          <p:nvPr/>
        </p:nvSpPr>
        <p:spPr>
          <a:xfrm>
            <a:off x="4698281" y="2658648"/>
            <a:ext cx="3934271" cy="633338"/>
          </a:xfrm>
          <a:prstGeom prst="rect">
            <a:avLst/>
          </a:prstGeom>
          <a:noFill/>
          <a:ln/>
        </p:spPr>
        <p:txBody>
          <a:bodyPr wrap="squar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Latency Reduction:</a:t>
            </a:r>
            <a:r>
              <a:rPr lang="en-US" sz="1200" dirty="0">
                <a:solidFill>
                  <a:srgbClr val="272525"/>
                </a:solidFill>
                <a:latin typeface="Inter" pitchFamily="34" charset="0"/>
                <a:ea typeface="Inter" pitchFamily="34" charset="-122"/>
                <a:cs typeface="Inter" pitchFamily="34" charset="-120"/>
              </a:rPr>
              <a:t> Computational time was slashed from </a:t>
            </a:r>
            <a:r>
              <a:rPr lang="en-US" sz="1200" b="1" dirty="0">
                <a:solidFill>
                  <a:srgbClr val="272525"/>
                </a:solidFill>
                <a:latin typeface="Inter" pitchFamily="34" charset="0"/>
                <a:ea typeface="Inter" pitchFamily="34" charset="-122"/>
                <a:cs typeface="Inter" pitchFamily="34" charset="-120"/>
              </a:rPr>
              <a:t>~15 minutes per FEA run</a:t>
            </a:r>
            <a:r>
              <a:rPr lang="en-US" sz="1200" dirty="0">
                <a:solidFill>
                  <a:srgbClr val="272525"/>
                </a:solidFill>
                <a:latin typeface="Inter" pitchFamily="34" charset="0"/>
                <a:ea typeface="Inter" pitchFamily="34" charset="-122"/>
                <a:cs typeface="Inter" pitchFamily="34" charset="-120"/>
              </a:rPr>
              <a:t> to </a:t>
            </a:r>
            <a:r>
              <a:rPr lang="en-US" sz="1200" b="1" dirty="0">
                <a:solidFill>
                  <a:srgbClr val="272525"/>
                </a:solidFill>
                <a:latin typeface="Inter" pitchFamily="34" charset="0"/>
                <a:ea typeface="Inter" pitchFamily="34" charset="-122"/>
                <a:cs typeface="Inter" pitchFamily="34" charset="-120"/>
              </a:rPr>
              <a:t>sub-millisecond ML predictions</a:t>
            </a:r>
            <a:r>
              <a:rPr lang="en-US" sz="1200" dirty="0">
                <a:solidFill>
                  <a:srgbClr val="272525"/>
                </a:solidFill>
                <a:latin typeface="Inter" pitchFamily="34" charset="0"/>
                <a:ea typeface="Inter" pitchFamily="34" charset="-122"/>
                <a:cs typeface="Inter" pitchFamily="34" charset="-120"/>
              </a:rPr>
              <a:t>, enabling real-time force control in high-speed assembly.</a:t>
            </a:r>
          </a:p>
          <a:p>
            <a:pPr marL="0" indent="0" algn="l">
              <a:lnSpc>
                <a:spcPts val="1650"/>
              </a:lnSpc>
              <a:buNone/>
            </a:pPr>
            <a:endParaRPr lang="en-US" sz="1200" dirty="0"/>
          </a:p>
        </p:txBody>
      </p:sp>
      <p:sp>
        <p:nvSpPr>
          <p:cNvPr id="6" name="Text 3"/>
          <p:cNvSpPr/>
          <p:nvPr/>
        </p:nvSpPr>
        <p:spPr>
          <a:xfrm>
            <a:off x="4698282" y="3669138"/>
            <a:ext cx="3934271" cy="844451"/>
          </a:xfrm>
          <a:prstGeom prst="rect">
            <a:avLst/>
          </a:prstGeom>
          <a:noFill/>
          <a:ln/>
        </p:spPr>
        <p:txBody>
          <a:bodyPr wrap="squar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Model Robustness:</a:t>
            </a:r>
            <a:r>
              <a:rPr lang="en-US" sz="1200" dirty="0">
                <a:solidFill>
                  <a:srgbClr val="272525"/>
                </a:solidFill>
                <a:latin typeface="Inter" pitchFamily="34" charset="0"/>
                <a:ea typeface="Inter" pitchFamily="34" charset="-122"/>
                <a:cs typeface="Inter" pitchFamily="34" charset="-120"/>
              </a:rPr>
              <a:t> The Random Forest framework effectively maps the complex non-linear relationship between dual-arm geometry and resulting grip force, bypassing traditional simulation bottlenecks.</a:t>
            </a:r>
            <a:endParaRPr lang="en-US" sz="1200" dirty="0"/>
          </a:p>
        </p:txBody>
      </p:sp>
      <p:sp>
        <p:nvSpPr>
          <p:cNvPr id="7" name="Text 4"/>
          <p:cNvSpPr/>
          <p:nvPr/>
        </p:nvSpPr>
        <p:spPr>
          <a:xfrm>
            <a:off x="3160984" y="1624309"/>
            <a:ext cx="3934271" cy="211113"/>
          </a:xfrm>
          <a:prstGeom prst="rect">
            <a:avLst/>
          </a:prstGeom>
          <a:noFill/>
          <a:ln/>
        </p:spPr>
        <p:txBody>
          <a:bodyPr wrap="none" lIns="0" tIns="0" rIns="0" bIns="0" rtlCol="0" anchor="t"/>
          <a:lstStyle/>
          <a:p>
            <a:pPr marL="0" indent="0" algn="l">
              <a:lnSpc>
                <a:spcPts val="1650"/>
              </a:lnSpc>
              <a:buNone/>
            </a:pPr>
            <a:endParaRPr lang="en-US" sz="1050" dirty="0"/>
          </a:p>
        </p:txBody>
      </p:sp>
      <p:sp>
        <p:nvSpPr>
          <p:cNvPr id="8" name="Rectangle 7">
            <a:extLst>
              <a:ext uri="{FF2B5EF4-FFF2-40B4-BE49-F238E27FC236}">
                <a16:creationId xmlns:a16="http://schemas.microsoft.com/office/drawing/2014/main" id="{90B40BDB-481F-C2CC-612F-9BAAD207EF7D}"/>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0" name="Picture 9">
            <a:extLst>
              <a:ext uri="{FF2B5EF4-FFF2-40B4-BE49-F238E27FC236}">
                <a16:creationId xmlns:a16="http://schemas.microsoft.com/office/drawing/2014/main" id="{CBEA6197-B607-2805-C347-70F3236DA3BA}"/>
              </a:ext>
            </a:extLst>
          </p:cNvPr>
          <p:cNvPicPr>
            <a:picLocks noChangeAspect="1"/>
          </p:cNvPicPr>
          <p:nvPr/>
        </p:nvPicPr>
        <p:blipFill>
          <a:blip r:embed="rId4"/>
          <a:srcRect l="4366" t="7193" b="2946"/>
          <a:stretch>
            <a:fillRect/>
          </a:stretch>
        </p:blipFill>
        <p:spPr>
          <a:xfrm>
            <a:off x="337510" y="2742817"/>
            <a:ext cx="3683726" cy="234799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27336" y="321394"/>
            <a:ext cx="2713509" cy="339179"/>
          </a:xfrm>
          <a:prstGeom prst="rect">
            <a:avLst/>
          </a:prstGeom>
          <a:noFill/>
          <a:ln/>
        </p:spPr>
        <p:txBody>
          <a:bodyPr wrap="none" lIns="0" tIns="0" rIns="0" bIns="0" rtlCol="0" anchor="t"/>
          <a:lstStyle/>
          <a:p>
            <a:pPr marL="0" indent="0" algn="l">
              <a:lnSpc>
                <a:spcPts val="2650"/>
              </a:lnSpc>
              <a:buNone/>
            </a:pPr>
            <a:r>
              <a:rPr lang="en-US" sz="3200" b="1" dirty="0">
                <a:solidFill>
                  <a:srgbClr val="000000"/>
                </a:solidFill>
                <a:latin typeface="Inter Bold" pitchFamily="34" charset="0"/>
                <a:ea typeface="Inter Bold" pitchFamily="34" charset="-122"/>
                <a:cs typeface="Inter Bold" pitchFamily="34" charset="-120"/>
              </a:rPr>
              <a:t>Discussions</a:t>
            </a:r>
            <a:endParaRPr lang="en-US" sz="3200" dirty="0"/>
          </a:p>
        </p:txBody>
      </p:sp>
      <p:sp>
        <p:nvSpPr>
          <p:cNvPr id="3" name="Text 1"/>
          <p:cNvSpPr/>
          <p:nvPr/>
        </p:nvSpPr>
        <p:spPr>
          <a:xfrm>
            <a:off x="827336" y="826740"/>
            <a:ext cx="7489254" cy="766465"/>
          </a:xfrm>
          <a:prstGeom prst="rect">
            <a:avLst/>
          </a:prstGeom>
          <a:noFill/>
          <a:ln/>
        </p:spPr>
        <p:txBody>
          <a:bodyPr wrap="square" lIns="0" tIns="0" rIns="0" bIns="0" rtlCol="0" anchor="t"/>
          <a:lstStyle/>
          <a:p>
            <a:pPr marL="0" indent="0" algn="l">
              <a:lnSpc>
                <a:spcPts val="1200"/>
              </a:lnSpc>
              <a:buNone/>
            </a:pPr>
            <a:r>
              <a:rPr lang="en-US" sz="1200" dirty="0">
                <a:solidFill>
                  <a:srgbClr val="272525"/>
                </a:solidFill>
                <a:latin typeface="Inter" pitchFamily="34" charset="0"/>
                <a:ea typeface="Inter" pitchFamily="34" charset="-122"/>
                <a:cs typeface="Inter" pitchFamily="34" charset="-120"/>
              </a:rPr>
              <a:t>The dual-arm configuration provides a synchronized "pinch" force that eliminates object slippage inherent in single-arm models, with each arm generating a lateral blocking force of 138 µN—an ideal safety threshold for handling delicate micro-optical fibers without structural damage. The integrated Random Forest surrogate model demonstrates high robustness, achieving an R^2 accuracy of 0.935 despite the 1.8% stochastic noise injected to simulate real-world sensor uncertainty. By reducing force estimation latency from 15 minutes in FEA to sub-millisecond ML predictions, the system enables high-speed, real-time control for high-throughput Micro-Opto-Electronic assembly lines.</a:t>
            </a:r>
            <a:endParaRPr lang="en-US" sz="1200" dirty="0"/>
          </a:p>
        </p:txBody>
      </p:sp>
      <p:pic>
        <p:nvPicPr>
          <p:cNvPr id="4" name="Image 0" descr="preencoded.png"/>
          <p:cNvPicPr>
            <a:picLocks noChangeAspect="1"/>
          </p:cNvPicPr>
          <p:nvPr/>
        </p:nvPicPr>
        <p:blipFill>
          <a:blip r:embed="rId3"/>
          <a:stretch>
            <a:fillRect/>
          </a:stretch>
        </p:blipFill>
        <p:spPr>
          <a:xfrm>
            <a:off x="2087314" y="2105993"/>
            <a:ext cx="4969297" cy="2888605"/>
          </a:xfrm>
          <a:prstGeom prst="rect">
            <a:avLst/>
          </a:prstGeom>
        </p:spPr>
      </p:pic>
      <p:sp>
        <p:nvSpPr>
          <p:cNvPr id="5" name="Text 2"/>
          <p:cNvSpPr/>
          <p:nvPr/>
        </p:nvSpPr>
        <p:spPr>
          <a:xfrm>
            <a:off x="827336" y="4668738"/>
            <a:ext cx="7489254" cy="153293"/>
          </a:xfrm>
          <a:prstGeom prst="rect">
            <a:avLst/>
          </a:prstGeom>
          <a:noFill/>
          <a:ln/>
        </p:spPr>
        <p:txBody>
          <a:bodyPr wrap="none" lIns="0" tIns="0" rIns="0" bIns="0" rtlCol="0" anchor="t"/>
          <a:lstStyle/>
          <a:p>
            <a:pPr marL="0" indent="0" algn="l">
              <a:lnSpc>
                <a:spcPts val="1200"/>
              </a:lnSpc>
              <a:buNone/>
            </a:pPr>
            <a:endParaRPr lang="en-US" sz="850" dirty="0"/>
          </a:p>
        </p:txBody>
      </p:sp>
      <p:sp>
        <p:nvSpPr>
          <p:cNvPr id="6" name="Rectangle 5">
            <a:extLst>
              <a:ext uri="{FF2B5EF4-FFF2-40B4-BE49-F238E27FC236}">
                <a16:creationId xmlns:a16="http://schemas.microsoft.com/office/drawing/2014/main" id="{02FF13F5-C495-DCBA-5CE3-4C665324BB8F}"/>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594731" y="670622"/>
            <a:ext cx="5263679" cy="442987"/>
          </a:xfrm>
          <a:prstGeom prst="rect">
            <a:avLst/>
          </a:prstGeom>
          <a:noFill/>
          <a:ln/>
        </p:spPr>
        <p:txBody>
          <a:bodyPr wrap="none" lIns="0" tIns="0" rIns="0" bIns="0" rtlCol="0" anchor="t"/>
          <a:lstStyle/>
          <a:p>
            <a:pPr marL="0" indent="0" algn="l">
              <a:lnSpc>
                <a:spcPts val="3450"/>
              </a:lnSpc>
              <a:buNone/>
            </a:pPr>
            <a:r>
              <a:rPr lang="en-US" sz="3200" b="1" dirty="0">
                <a:solidFill>
                  <a:srgbClr val="000000"/>
                </a:solidFill>
                <a:latin typeface="Inter Bold" pitchFamily="34" charset="0"/>
                <a:ea typeface="Inter Bold" pitchFamily="34" charset="-122"/>
                <a:cs typeface="Inter Bold" pitchFamily="34" charset="-120"/>
              </a:rPr>
              <a:t>Conclusions and Future Scope</a:t>
            </a:r>
            <a:endParaRPr lang="en-US" sz="3200" dirty="0"/>
          </a:p>
        </p:txBody>
      </p:sp>
      <p:sp>
        <p:nvSpPr>
          <p:cNvPr id="3" name="Shape 1"/>
          <p:cNvSpPr/>
          <p:nvPr/>
        </p:nvSpPr>
        <p:spPr>
          <a:xfrm>
            <a:off x="496119" y="1985218"/>
            <a:ext cx="70842" cy="70842"/>
          </a:xfrm>
          <a:prstGeom prst="roundRect">
            <a:avLst>
              <a:gd name="adj" fmla="val 403362"/>
            </a:avLst>
          </a:prstGeom>
          <a:solidFill>
            <a:srgbClr val="4950BC"/>
          </a:solidFill>
          <a:ln/>
        </p:spPr>
        <p:txBody>
          <a:bodyPr/>
          <a:lstStyle/>
          <a:p>
            <a:endParaRPr lang="en-IN"/>
          </a:p>
        </p:txBody>
      </p:sp>
      <p:sp>
        <p:nvSpPr>
          <p:cNvPr id="4" name="Text 2"/>
          <p:cNvSpPr/>
          <p:nvPr/>
        </p:nvSpPr>
        <p:spPr>
          <a:xfrm>
            <a:off x="708720" y="1909911"/>
            <a:ext cx="1772022" cy="221456"/>
          </a:xfrm>
          <a:prstGeom prst="rect">
            <a:avLst/>
          </a:prstGeom>
          <a:noFill/>
          <a:ln/>
        </p:spPr>
        <p:txBody>
          <a:bodyPr wrap="none" lIns="0" tIns="0" rIns="0" bIns="0" rtlCol="0" anchor="t"/>
          <a:lstStyle/>
          <a:p>
            <a:pPr marL="0" indent="0" algn="l">
              <a:lnSpc>
                <a:spcPts val="1700"/>
              </a:lnSpc>
              <a:buNone/>
            </a:pPr>
            <a:r>
              <a:rPr lang="en-US" sz="2000" b="1" dirty="0">
                <a:solidFill>
                  <a:srgbClr val="272525"/>
                </a:solidFill>
                <a:latin typeface="Inter Bold" pitchFamily="34" charset="0"/>
                <a:ea typeface="Inter Bold" pitchFamily="34" charset="-122"/>
                <a:cs typeface="Inter Bold" pitchFamily="34" charset="-120"/>
              </a:rPr>
              <a:t>Conclusions</a:t>
            </a:r>
            <a:endParaRPr lang="en-US" sz="2000" dirty="0"/>
          </a:p>
        </p:txBody>
      </p:sp>
      <p:sp>
        <p:nvSpPr>
          <p:cNvPr id="5" name="Text 3"/>
          <p:cNvSpPr/>
          <p:nvPr/>
        </p:nvSpPr>
        <p:spPr>
          <a:xfrm>
            <a:off x="708720" y="2216423"/>
            <a:ext cx="3774653" cy="1813468"/>
          </a:xfrm>
          <a:prstGeom prst="rect">
            <a:avLst/>
          </a:prstGeom>
          <a:noFill/>
          <a:ln/>
        </p:spPr>
        <p:txBody>
          <a:bodyPr wrap="square" lIns="0" tIns="0" rIns="0" bIns="0" rtlCol="0" anchor="t"/>
          <a:lstStyle/>
          <a:p>
            <a:pPr marL="0" indent="0" algn="l">
              <a:lnSpc>
                <a:spcPts val="1750"/>
              </a:lnSpc>
              <a:buNone/>
            </a:pPr>
            <a:r>
              <a:rPr lang="en-US" sz="1400" dirty="0">
                <a:solidFill>
                  <a:srgbClr val="272525"/>
                </a:solidFill>
                <a:latin typeface="Inter" pitchFamily="34" charset="0"/>
                <a:ea typeface="Inter" pitchFamily="34" charset="-122"/>
                <a:cs typeface="Inter" pitchFamily="34" charset="-120"/>
              </a:rPr>
              <a:t>Successfully developed a noise-resilient, </a:t>
            </a:r>
            <a:r>
              <a:rPr lang="en-US" sz="1400" b="1" dirty="0">
                <a:solidFill>
                  <a:srgbClr val="272525"/>
                </a:solidFill>
                <a:latin typeface="Inter" pitchFamily="34" charset="0"/>
                <a:ea typeface="Inter" pitchFamily="34" charset="-122"/>
                <a:cs typeface="Inter" pitchFamily="34" charset="-120"/>
              </a:rPr>
              <a:t>dual-arm ML framework</a:t>
            </a:r>
            <a:r>
              <a:rPr lang="en-US" sz="1400" dirty="0">
                <a:solidFill>
                  <a:srgbClr val="272525"/>
                </a:solidFill>
                <a:latin typeface="Inter" pitchFamily="34" charset="0"/>
                <a:ea typeface="Inter" pitchFamily="34" charset="-122"/>
                <a:cs typeface="Inter" pitchFamily="34" charset="-120"/>
              </a:rPr>
              <a:t> that enables the safe, real-time manipulation of delicate components in </a:t>
            </a:r>
            <a:r>
              <a:rPr lang="en-US" sz="1400" b="1" dirty="0">
                <a:solidFill>
                  <a:srgbClr val="272525"/>
                </a:solidFill>
                <a:latin typeface="Inter" pitchFamily="34" charset="0"/>
                <a:ea typeface="Inter" pitchFamily="34" charset="-122"/>
                <a:cs typeface="Inter" pitchFamily="34" charset="-120"/>
              </a:rPr>
              <a:t>Micro-Opto-Electronic Assembly</a:t>
            </a:r>
            <a:r>
              <a:rPr lang="en-US" sz="1400" dirty="0">
                <a:solidFill>
                  <a:srgbClr val="272525"/>
                </a:solidFill>
                <a:latin typeface="Inter" pitchFamily="34" charset="0"/>
                <a:ea typeface="Inter" pitchFamily="34" charset="-122"/>
                <a:cs typeface="Inter" pitchFamily="34" charset="-120"/>
              </a:rPr>
              <a:t>.</a:t>
            </a:r>
            <a:endParaRPr lang="en-US" sz="1400" dirty="0"/>
          </a:p>
        </p:txBody>
      </p:sp>
      <p:sp>
        <p:nvSpPr>
          <p:cNvPr id="6" name="Shape 4"/>
          <p:cNvSpPr/>
          <p:nvPr/>
        </p:nvSpPr>
        <p:spPr>
          <a:xfrm>
            <a:off x="4660553" y="1985218"/>
            <a:ext cx="70842" cy="70842"/>
          </a:xfrm>
          <a:prstGeom prst="roundRect">
            <a:avLst>
              <a:gd name="adj" fmla="val 403362"/>
            </a:avLst>
          </a:prstGeom>
          <a:solidFill>
            <a:srgbClr val="4950BC"/>
          </a:solidFill>
          <a:ln/>
        </p:spPr>
        <p:txBody>
          <a:bodyPr/>
          <a:lstStyle/>
          <a:p>
            <a:endParaRPr lang="en-IN"/>
          </a:p>
        </p:txBody>
      </p:sp>
      <p:sp>
        <p:nvSpPr>
          <p:cNvPr id="7" name="Text 5"/>
          <p:cNvSpPr/>
          <p:nvPr/>
        </p:nvSpPr>
        <p:spPr>
          <a:xfrm>
            <a:off x="4873154" y="1909911"/>
            <a:ext cx="1772022" cy="221456"/>
          </a:xfrm>
          <a:prstGeom prst="rect">
            <a:avLst/>
          </a:prstGeom>
          <a:noFill/>
          <a:ln/>
        </p:spPr>
        <p:txBody>
          <a:bodyPr wrap="none" lIns="0" tIns="0" rIns="0" bIns="0" rtlCol="0" anchor="t"/>
          <a:lstStyle/>
          <a:p>
            <a:pPr marL="0" indent="0" algn="l">
              <a:lnSpc>
                <a:spcPts val="1700"/>
              </a:lnSpc>
              <a:buNone/>
            </a:pPr>
            <a:r>
              <a:rPr lang="en-US" sz="2000" b="1" dirty="0">
                <a:solidFill>
                  <a:srgbClr val="272525"/>
                </a:solidFill>
                <a:latin typeface="Inter Bold" pitchFamily="34" charset="0"/>
                <a:ea typeface="Inter Bold" pitchFamily="34" charset="-122"/>
                <a:cs typeface="Inter Bold" pitchFamily="34" charset="-120"/>
              </a:rPr>
              <a:t>Future Scope</a:t>
            </a:r>
            <a:endParaRPr lang="en-US" sz="2000" dirty="0"/>
          </a:p>
        </p:txBody>
      </p:sp>
      <p:sp>
        <p:nvSpPr>
          <p:cNvPr id="8" name="Text 6"/>
          <p:cNvSpPr/>
          <p:nvPr/>
        </p:nvSpPr>
        <p:spPr>
          <a:xfrm>
            <a:off x="4873154" y="2216422"/>
            <a:ext cx="3774728" cy="1166857"/>
          </a:xfrm>
          <a:prstGeom prst="rect">
            <a:avLst/>
          </a:prstGeom>
          <a:noFill/>
          <a:ln/>
        </p:spPr>
        <p:txBody>
          <a:bodyPr wrap="square" lIns="0" tIns="0" rIns="0" bIns="0" rtlCol="0" anchor="t"/>
          <a:lstStyle/>
          <a:p>
            <a:pPr marL="0" indent="0" algn="l">
              <a:lnSpc>
                <a:spcPts val="1750"/>
              </a:lnSpc>
              <a:buNone/>
            </a:pPr>
            <a:r>
              <a:rPr lang="en-US" sz="1400" dirty="0">
                <a:solidFill>
                  <a:srgbClr val="272525"/>
                </a:solidFill>
                <a:latin typeface="Inter" pitchFamily="34" charset="0"/>
                <a:ea typeface="Inter" pitchFamily="34" charset="-122"/>
                <a:cs typeface="Inter" pitchFamily="34" charset="-120"/>
              </a:rPr>
              <a:t>Scaling the ML model into closed-loop robotic systems for the automated manufacturing of high-precision fiber-optics and smartphone camera modules.</a:t>
            </a:r>
            <a:endParaRPr lang="en-US" sz="1400" dirty="0"/>
          </a:p>
        </p:txBody>
      </p:sp>
      <p:sp>
        <p:nvSpPr>
          <p:cNvPr id="9" name="Text 7"/>
          <p:cNvSpPr/>
          <p:nvPr/>
        </p:nvSpPr>
        <p:spPr>
          <a:xfrm>
            <a:off x="4873154" y="3383279"/>
            <a:ext cx="3774728" cy="907256"/>
          </a:xfrm>
          <a:prstGeom prst="rect">
            <a:avLst/>
          </a:prstGeom>
          <a:noFill/>
          <a:ln/>
        </p:spPr>
        <p:txBody>
          <a:bodyPr wrap="square" lIns="0" tIns="0" rIns="0" bIns="0" rtlCol="0" anchor="t"/>
          <a:lstStyle/>
          <a:p>
            <a:pPr marL="0" indent="0" algn="l">
              <a:lnSpc>
                <a:spcPts val="1750"/>
              </a:lnSpc>
              <a:buNone/>
            </a:pPr>
            <a:r>
              <a:rPr lang="en-US" sz="1400" b="1" dirty="0">
                <a:solidFill>
                  <a:srgbClr val="272525"/>
                </a:solidFill>
                <a:latin typeface="Inter" pitchFamily="34" charset="0"/>
                <a:ea typeface="Inter" pitchFamily="34" charset="-122"/>
                <a:cs typeface="Inter" pitchFamily="34" charset="-120"/>
              </a:rPr>
              <a:t>Fabrication:</a:t>
            </a:r>
            <a:r>
              <a:rPr lang="en-US" sz="1400" dirty="0">
                <a:solidFill>
                  <a:srgbClr val="272525"/>
                </a:solidFill>
                <a:latin typeface="Inter" pitchFamily="34" charset="0"/>
                <a:ea typeface="Inter" pitchFamily="34" charset="-122"/>
                <a:cs typeface="Inter" pitchFamily="34" charset="-120"/>
              </a:rPr>
              <a:t> </a:t>
            </a:r>
          </a:p>
          <a:p>
            <a:pPr marL="0" indent="0" algn="l">
              <a:lnSpc>
                <a:spcPts val="1750"/>
              </a:lnSpc>
              <a:buNone/>
            </a:pPr>
            <a:r>
              <a:rPr lang="en-US" sz="1400" dirty="0">
                <a:solidFill>
                  <a:srgbClr val="272525"/>
                </a:solidFill>
                <a:latin typeface="Inter" pitchFamily="34" charset="0"/>
                <a:ea typeface="Inter" pitchFamily="34" charset="-122"/>
                <a:cs typeface="Inter" pitchFamily="34" charset="-120"/>
              </a:rPr>
              <a:t>Physical prototyping using </a:t>
            </a:r>
            <a:r>
              <a:rPr lang="en-US" sz="1400" b="1" dirty="0">
                <a:solidFill>
                  <a:srgbClr val="272525"/>
                </a:solidFill>
                <a:latin typeface="Inter" pitchFamily="34" charset="0"/>
                <a:ea typeface="Inter" pitchFamily="34" charset="-122"/>
                <a:cs typeface="Inter" pitchFamily="34" charset="-120"/>
              </a:rPr>
              <a:t>Surface Micromachining (DRIE)</a:t>
            </a:r>
            <a:r>
              <a:rPr lang="en-US" sz="1400" dirty="0">
                <a:solidFill>
                  <a:srgbClr val="272525"/>
                </a:solidFill>
                <a:latin typeface="Inter" pitchFamily="34" charset="0"/>
                <a:ea typeface="Inter" pitchFamily="34" charset="-122"/>
                <a:cs typeface="Inter" pitchFamily="34" charset="-120"/>
              </a:rPr>
              <a:t> and sol-gel PZT deposition to validate the ML-predicted forces against experimental hardware results.</a:t>
            </a:r>
            <a:endParaRPr lang="en-US" sz="1400" dirty="0"/>
          </a:p>
        </p:txBody>
      </p:sp>
      <p:sp>
        <p:nvSpPr>
          <p:cNvPr id="10" name="Rectangle 9">
            <a:extLst>
              <a:ext uri="{FF2B5EF4-FFF2-40B4-BE49-F238E27FC236}">
                <a16:creationId xmlns:a16="http://schemas.microsoft.com/office/drawing/2014/main" id="{74669E19-5B2A-17BB-FAFF-F3E958E22BD7}"/>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253573"/>
            <a:ext cx="3544119" cy="442987"/>
          </a:xfrm>
          <a:prstGeom prst="rect">
            <a:avLst/>
          </a:prstGeom>
          <a:noFill/>
          <a:ln/>
        </p:spPr>
        <p:txBody>
          <a:bodyPr wrap="none" lIns="0" tIns="0" rIns="0" bIns="0" rtlCol="0" anchor="t"/>
          <a:lstStyle/>
          <a:p>
            <a:pPr marL="0" indent="0" algn="l">
              <a:lnSpc>
                <a:spcPts val="3450"/>
              </a:lnSpc>
              <a:buNone/>
            </a:pPr>
            <a:r>
              <a:rPr lang="en-US" sz="2750" b="1" dirty="0">
                <a:solidFill>
                  <a:srgbClr val="000000"/>
                </a:solidFill>
                <a:latin typeface="Inter Bold" pitchFamily="34" charset="0"/>
                <a:ea typeface="Inter Bold" pitchFamily="34" charset="-122"/>
                <a:cs typeface="Inter Bold" pitchFamily="34" charset="-120"/>
              </a:rPr>
              <a:t>References.</a:t>
            </a:r>
            <a:endParaRPr lang="en-US" sz="2750" dirty="0"/>
          </a:p>
        </p:txBody>
      </p:sp>
      <p:sp>
        <p:nvSpPr>
          <p:cNvPr id="3" name="Text 1"/>
          <p:cNvSpPr/>
          <p:nvPr/>
        </p:nvSpPr>
        <p:spPr>
          <a:xfrm>
            <a:off x="496118" y="754780"/>
            <a:ext cx="8151763" cy="3320868"/>
          </a:xfrm>
          <a:prstGeom prst="rect">
            <a:avLst/>
          </a:prstGeom>
          <a:noFill/>
          <a:ln/>
        </p:spPr>
        <p:txBody>
          <a:bodyPr wrap="square" lIns="0" tIns="0" rIns="0" bIns="0" rtlCol="0" anchor="t"/>
          <a:lstStyle/>
          <a:p>
            <a:pPr marL="342900" indent="-342900" algn="l">
              <a:lnSpc>
                <a:spcPts val="1750"/>
              </a:lnSpc>
              <a:buSzPct val="100000"/>
              <a:buFont typeface="+mj-lt"/>
              <a:buAutoNum type="arabicPeriod"/>
            </a:pPr>
            <a:r>
              <a:rPr lang="en-US" sz="1600" dirty="0">
                <a:solidFill>
                  <a:srgbClr val="272525"/>
                </a:solidFill>
                <a:latin typeface="Inter" pitchFamily="34" charset="0"/>
                <a:ea typeface="Inter" pitchFamily="34" charset="-122"/>
                <a:cs typeface="Inter" pitchFamily="34" charset="-120"/>
              </a:rPr>
              <a:t>B. Mourched et al., "Design and Simulation of a Piezoelectric MEMS Microgripper for Biological Cell Manipulation," </a:t>
            </a:r>
            <a:r>
              <a:rPr lang="en-US" sz="1600" i="1" dirty="0">
                <a:solidFill>
                  <a:srgbClr val="272525"/>
                </a:solidFill>
                <a:latin typeface="Inter" pitchFamily="34" charset="0"/>
                <a:ea typeface="Inter" pitchFamily="34" charset="-122"/>
                <a:cs typeface="Inter" pitchFamily="34" charset="-120"/>
              </a:rPr>
              <a:t>Appl. Sci.</a:t>
            </a:r>
            <a:r>
              <a:rPr lang="en-US" sz="1600" dirty="0">
                <a:solidFill>
                  <a:srgbClr val="272525"/>
                </a:solidFill>
                <a:latin typeface="Inter" pitchFamily="34" charset="0"/>
                <a:ea typeface="Inter" pitchFamily="34" charset="-122"/>
                <a:cs typeface="Inter" pitchFamily="34" charset="-120"/>
              </a:rPr>
              <a:t>, vol. 12, no. 19, p. 9798, 2022.</a:t>
            </a:r>
          </a:p>
          <a:p>
            <a:pPr marL="342900" indent="-342900" algn="l">
              <a:lnSpc>
                <a:spcPts val="1750"/>
              </a:lnSpc>
              <a:buSzPct val="100000"/>
              <a:buFont typeface="+mj-lt"/>
              <a:buAutoNum type="arabicPeriod"/>
            </a:pPr>
            <a:endParaRPr lang="en-US" sz="1600" dirty="0"/>
          </a:p>
          <a:p>
            <a:pPr marL="342900" indent="-342900" algn="l">
              <a:lnSpc>
                <a:spcPts val="1750"/>
              </a:lnSpc>
              <a:buSzPct val="100000"/>
              <a:buFont typeface="+mj-lt"/>
              <a:buAutoNum type="arabicPeriod" startAt="2"/>
            </a:pPr>
            <a:r>
              <a:rPr lang="en-US" sz="1600" b="1" dirty="0">
                <a:solidFill>
                  <a:srgbClr val="272525"/>
                </a:solidFill>
                <a:latin typeface="Inter" pitchFamily="34" charset="0"/>
                <a:ea typeface="Inter" pitchFamily="34" charset="-122"/>
                <a:cs typeface="Inter" pitchFamily="34" charset="-120"/>
              </a:rPr>
              <a:t>S. Kaur et al., "Design and Analysis of Piezoelectric MEMS Microgripper," </a:t>
            </a:r>
            <a:r>
              <a:rPr lang="en-US" sz="1600" b="1" i="1" dirty="0">
                <a:solidFill>
                  <a:srgbClr val="272525"/>
                </a:solidFill>
                <a:latin typeface="Inter" pitchFamily="34" charset="0"/>
                <a:ea typeface="Inter" pitchFamily="34" charset="-122"/>
                <a:cs typeface="Inter" pitchFamily="34" charset="-120"/>
              </a:rPr>
              <a:t>Microelectronics &amp; Solid-State Electronics</a:t>
            </a:r>
            <a:r>
              <a:rPr lang="en-US" sz="1600" b="1" dirty="0">
                <a:solidFill>
                  <a:srgbClr val="272525"/>
                </a:solidFill>
                <a:latin typeface="Inter" pitchFamily="34" charset="0"/>
                <a:ea typeface="Inter" pitchFamily="34" charset="-122"/>
                <a:cs typeface="Inter" pitchFamily="34" charset="-120"/>
              </a:rPr>
              <a:t>, vol. 2, no. 3, pp. 39-44, 2013.</a:t>
            </a:r>
          </a:p>
          <a:p>
            <a:pPr marL="342900" indent="-342900" algn="l">
              <a:lnSpc>
                <a:spcPts val="1750"/>
              </a:lnSpc>
              <a:buSzPct val="100000"/>
              <a:buFont typeface="+mj-lt"/>
              <a:buAutoNum type="arabicPeriod" startAt="2"/>
            </a:pPr>
            <a:endParaRPr lang="en-US" sz="1600" dirty="0"/>
          </a:p>
          <a:p>
            <a:pPr marL="342900" indent="-342900" algn="l">
              <a:lnSpc>
                <a:spcPts val="1750"/>
              </a:lnSpc>
              <a:buSzPct val="100000"/>
              <a:buFont typeface="+mj-lt"/>
              <a:buAutoNum type="arabicPeriod" startAt="3"/>
            </a:pPr>
            <a:r>
              <a:rPr lang="en-US" sz="1600" dirty="0">
                <a:solidFill>
                  <a:srgbClr val="272525"/>
                </a:solidFill>
                <a:latin typeface="Inter" pitchFamily="34" charset="0"/>
                <a:ea typeface="Inter" pitchFamily="34" charset="-122"/>
                <a:cs typeface="Inter" pitchFamily="34" charset="-120"/>
              </a:rPr>
              <a:t>R. Verma et al., "Design and Simulation of MEMS Based Piezoelectric Microgripper," </a:t>
            </a:r>
            <a:r>
              <a:rPr lang="en-US" sz="1600" i="1" dirty="0">
                <a:solidFill>
                  <a:srgbClr val="272525"/>
                </a:solidFill>
                <a:latin typeface="Inter" pitchFamily="34" charset="0"/>
                <a:ea typeface="Inter" pitchFamily="34" charset="-122"/>
                <a:cs typeface="Inter" pitchFamily="34" charset="-120"/>
              </a:rPr>
              <a:t>IJECT</a:t>
            </a:r>
            <a:r>
              <a:rPr lang="en-US" sz="1600" dirty="0">
                <a:solidFill>
                  <a:srgbClr val="272525"/>
                </a:solidFill>
                <a:latin typeface="Inter" pitchFamily="34" charset="0"/>
                <a:ea typeface="Inter" pitchFamily="34" charset="-122"/>
                <a:cs typeface="Inter" pitchFamily="34" charset="-120"/>
              </a:rPr>
              <a:t>, vol. 7, 2016.</a:t>
            </a:r>
          </a:p>
          <a:p>
            <a:pPr marL="342900" indent="-342900" algn="l">
              <a:lnSpc>
                <a:spcPts val="1750"/>
              </a:lnSpc>
              <a:buSzPct val="100000"/>
              <a:buFont typeface="+mj-lt"/>
              <a:buAutoNum type="arabicPeriod" startAt="3"/>
            </a:pPr>
            <a:endParaRPr lang="en-US" sz="1600" dirty="0"/>
          </a:p>
          <a:p>
            <a:pPr marL="342900" indent="-342900" algn="l">
              <a:lnSpc>
                <a:spcPts val="1750"/>
              </a:lnSpc>
              <a:buSzPct val="100000"/>
              <a:buFont typeface="+mj-lt"/>
              <a:buAutoNum type="arabicPeriod" startAt="4"/>
            </a:pPr>
            <a:r>
              <a:rPr lang="en-US" sz="1600" dirty="0">
                <a:solidFill>
                  <a:srgbClr val="272525"/>
                </a:solidFill>
                <a:latin typeface="Inter" pitchFamily="34" charset="0"/>
                <a:ea typeface="Inter" pitchFamily="34" charset="-122"/>
                <a:cs typeface="Inter" pitchFamily="34" charset="-120"/>
              </a:rPr>
              <a:t>M. Botta, "Varied voltage distributions across active piezoelectric MEMS layers for trajectory control," </a:t>
            </a:r>
            <a:r>
              <a:rPr lang="en-US" sz="1600" i="1" dirty="0">
                <a:solidFill>
                  <a:srgbClr val="272525"/>
                </a:solidFill>
                <a:latin typeface="Inter" pitchFamily="34" charset="0"/>
                <a:ea typeface="Inter" pitchFamily="34" charset="-122"/>
                <a:cs typeface="Inter" pitchFamily="34" charset="-120"/>
              </a:rPr>
              <a:t>Micromachines</a:t>
            </a:r>
            <a:r>
              <a:rPr lang="en-US" sz="1600" dirty="0">
                <a:solidFill>
                  <a:srgbClr val="272525"/>
                </a:solidFill>
                <a:latin typeface="Inter" pitchFamily="34" charset="0"/>
                <a:ea typeface="Inter" pitchFamily="34" charset="-122"/>
                <a:cs typeface="Inter" pitchFamily="34" charset="-120"/>
              </a:rPr>
              <a:t>, vol. 13, p. 1888, 2022.</a:t>
            </a:r>
          </a:p>
          <a:p>
            <a:pPr marL="342900" indent="-342900" algn="l">
              <a:lnSpc>
                <a:spcPts val="1750"/>
              </a:lnSpc>
              <a:buSzPct val="100000"/>
              <a:buFont typeface="+mj-lt"/>
              <a:buAutoNum type="arabicPeriod" startAt="4"/>
            </a:pPr>
            <a:endParaRPr lang="en-US" sz="1600" dirty="0"/>
          </a:p>
          <a:p>
            <a:pPr marL="342900" indent="-342900" algn="l">
              <a:lnSpc>
                <a:spcPts val="1750"/>
              </a:lnSpc>
              <a:buSzPct val="100000"/>
              <a:buFont typeface="+mj-lt"/>
              <a:buAutoNum type="arabicPeriod" startAt="5"/>
            </a:pPr>
            <a:r>
              <a:rPr lang="en-US" sz="1600" dirty="0">
                <a:solidFill>
                  <a:srgbClr val="272525"/>
                </a:solidFill>
                <a:latin typeface="Inter" pitchFamily="34" charset="0"/>
                <a:ea typeface="Inter" pitchFamily="34" charset="-122"/>
                <a:cs typeface="Inter" pitchFamily="34" charset="-120"/>
              </a:rPr>
              <a:t>Z. Yang and T. Xu, "Integrated blocking force prediction in MEMS devices for safe manipulation," </a:t>
            </a:r>
            <a:r>
              <a:rPr lang="en-US" sz="1600" i="1" dirty="0">
                <a:solidFill>
                  <a:srgbClr val="272525"/>
                </a:solidFill>
                <a:latin typeface="Inter" pitchFamily="34" charset="0"/>
                <a:ea typeface="Inter" pitchFamily="34" charset="-122"/>
                <a:cs typeface="Inter" pitchFamily="34" charset="-120"/>
              </a:rPr>
              <a:t>ResearchGate</a:t>
            </a:r>
            <a:r>
              <a:rPr lang="en-US" sz="1600" dirty="0">
                <a:solidFill>
                  <a:srgbClr val="272525"/>
                </a:solidFill>
                <a:latin typeface="Inter" pitchFamily="34" charset="0"/>
                <a:ea typeface="Inter" pitchFamily="34" charset="-122"/>
                <a:cs typeface="Inter" pitchFamily="34" charset="-120"/>
              </a:rPr>
              <a:t>, 2016.</a:t>
            </a:r>
          </a:p>
          <a:p>
            <a:pPr marL="342900" indent="-342900" algn="l">
              <a:lnSpc>
                <a:spcPts val="1750"/>
              </a:lnSpc>
              <a:buSzPct val="100000"/>
              <a:buFont typeface="+mj-lt"/>
              <a:buAutoNum type="arabicPeriod" startAt="5"/>
            </a:pPr>
            <a:endParaRPr lang="en-US" sz="1600" dirty="0"/>
          </a:p>
          <a:p>
            <a:pPr marL="342900" indent="-342900" algn="l">
              <a:lnSpc>
                <a:spcPts val="1750"/>
              </a:lnSpc>
              <a:buSzPct val="100000"/>
              <a:buFont typeface="+mj-lt"/>
              <a:buAutoNum type="arabicPeriod" startAt="6"/>
            </a:pPr>
            <a:r>
              <a:rPr lang="en-US" sz="1600" dirty="0">
                <a:solidFill>
                  <a:srgbClr val="272525"/>
                </a:solidFill>
                <a:latin typeface="Inter" pitchFamily="34" charset="0"/>
                <a:ea typeface="Inter" pitchFamily="34" charset="-122"/>
                <a:cs typeface="Inter" pitchFamily="34" charset="-120"/>
              </a:rPr>
              <a:t>D. Munro et al., "MEMS Fabrication Process," </a:t>
            </a:r>
            <a:r>
              <a:rPr lang="en-US" sz="1600" i="1" dirty="0">
                <a:solidFill>
                  <a:srgbClr val="272525"/>
                </a:solidFill>
                <a:latin typeface="Inter" pitchFamily="34" charset="0"/>
                <a:ea typeface="Inter" pitchFamily="34" charset="-122"/>
                <a:cs typeface="Inter" pitchFamily="34" charset="-120"/>
              </a:rPr>
              <a:t>DIY MEMS</a:t>
            </a:r>
            <a:r>
              <a:rPr lang="en-US" sz="1600" dirty="0">
                <a:solidFill>
                  <a:srgbClr val="272525"/>
                </a:solidFill>
                <a:latin typeface="Inter" pitchFamily="34" charset="0"/>
                <a:ea typeface="Inter" pitchFamily="34" charset="-122"/>
                <a:cs typeface="Inter" pitchFamily="34" charset="-120"/>
              </a:rPr>
              <a:t>, 2019.</a:t>
            </a:r>
            <a:endParaRPr lang="en-US" sz="1600" dirty="0"/>
          </a:p>
        </p:txBody>
      </p:sp>
      <p:sp>
        <p:nvSpPr>
          <p:cNvPr id="4" name="Text 2"/>
          <p:cNvSpPr/>
          <p:nvPr/>
        </p:nvSpPr>
        <p:spPr>
          <a:xfrm>
            <a:off x="496119" y="4045893"/>
            <a:ext cx="8151763" cy="226814"/>
          </a:xfrm>
          <a:prstGeom prst="rect">
            <a:avLst/>
          </a:prstGeom>
          <a:noFill/>
          <a:ln/>
        </p:spPr>
        <p:txBody>
          <a:bodyPr wrap="none" lIns="0" tIns="0" rIns="0" bIns="0" rtlCol="0" anchor="t"/>
          <a:lstStyle/>
          <a:p>
            <a:pPr marL="0" indent="0" algn="l">
              <a:lnSpc>
                <a:spcPts val="1750"/>
              </a:lnSpc>
              <a:buNone/>
            </a:pPr>
            <a:endParaRPr lang="en-US" sz="1100" dirty="0"/>
          </a:p>
        </p:txBody>
      </p:sp>
      <p:sp>
        <p:nvSpPr>
          <p:cNvPr id="5" name="Rectangle 4">
            <a:extLst>
              <a:ext uri="{FF2B5EF4-FFF2-40B4-BE49-F238E27FC236}">
                <a16:creationId xmlns:a16="http://schemas.microsoft.com/office/drawing/2014/main" id="{745EB6B6-FFBD-775B-CB3D-C282B149E7B3}"/>
              </a:ext>
            </a:extLst>
          </p:cNvPr>
          <p:cNvSpPr/>
          <p:nvPr/>
        </p:nvSpPr>
        <p:spPr>
          <a:xfrm>
            <a:off x="8054502" y="4773038"/>
            <a:ext cx="1024647" cy="317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1644</Words>
  <Application>Microsoft Office PowerPoint</Application>
  <PresentationFormat>On-screen Show (16:9)</PresentationFormat>
  <Paragraphs>138</Paragraphs>
  <Slides>14</Slides>
  <Notes>13</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Inter</vt:lpstr>
      <vt:lpstr>Inter Bold</vt:lpstr>
      <vt:lpstr>Google Sans Text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Aryan Jha</dc:creator>
  <cp:lastModifiedBy>Aryan Jha</cp:lastModifiedBy>
  <cp:revision>3</cp:revision>
  <dcterms:created xsi:type="dcterms:W3CDTF">2026-05-10T10:07:32Z</dcterms:created>
  <dcterms:modified xsi:type="dcterms:W3CDTF">2026-05-11T17:26:29Z</dcterms:modified>
</cp:coreProperties>
</file>